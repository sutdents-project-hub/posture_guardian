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78"/>
  </p:normalViewPr>
  <p:slideViewPr>
    <p:cSldViewPr snapToGrid="0">
      <p:cViewPr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24734DD-A413-47BF-BAB8-BC75215D1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A94730"/>
          </a:solidFill>
          <a:ln w="9525">
            <a:solidFill>
              <a:srgbClr val="A94730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FD08B5-295A-4EE9-B2F2-D9C173C62FA4}"/>
              </a:ext>
            </a:extLst>
          </p:cNvPr>
          <p:cNvSpPr>
            <a:spLocks noGrp="1"/>
          </p:cNvSpPr>
          <p:nvPr/>
        </p:nvSpPr>
        <p:spPr>
          <a:xfrm>
            <a:off x="1143000" y="1271852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200" b="1" dirty="0" err="1">
                <a:solidFill>
                  <a:srgbClr val="A94730"/>
                </a:solidFill>
                <a:latin typeface="Menlo"/>
                <a:ea typeface="Menlo"/>
                <a:cs typeface="Menlo"/>
              </a:rPr>
              <a:t>雛形試作日</a:t>
            </a:r>
            <a:endParaRPr sz="1200" b="1" dirty="0">
              <a:solidFill>
                <a:srgbClr val="A94730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F205DE-01D2-4F74-A6CB-3A63D9913364}"/>
              </a:ext>
            </a:extLst>
          </p:cNvPr>
          <p:cNvSpPr>
            <a:spLocks noGrp="1"/>
          </p:cNvSpPr>
          <p:nvPr/>
        </p:nvSpPr>
        <p:spPr>
          <a:xfrm>
            <a:off x="1143000" y="1748102"/>
            <a:ext cx="561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4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姿勢守衛隊</a:t>
            </a:r>
            <a:endParaRPr sz="405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3DA0FF-573A-48F2-9FEE-095CED56F018}"/>
              </a:ext>
            </a:extLst>
          </p:cNvPr>
          <p:cNvSpPr>
            <a:spLocks noGrp="1"/>
          </p:cNvSpPr>
          <p:nvPr/>
        </p:nvSpPr>
        <p:spPr>
          <a:xfrm>
            <a:off x="1143000" y="2433902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Posture Guardian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3DA2DC-1B89-4B05-87C1-321B53BDCD1A}"/>
              </a:ext>
            </a:extLst>
          </p:cNvPr>
          <p:cNvSpPr>
            <a:spLocks noGrp="1"/>
          </p:cNvSpPr>
          <p:nvPr/>
        </p:nvSpPr>
        <p:spPr>
          <a:xfrm>
            <a:off x="1143000" y="3100652"/>
            <a:ext cx="5524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核心雲端服務</a:t>
            </a:r>
            <a:endParaRPr sz="300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30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概念驗證報告</a:t>
            </a:r>
            <a:endParaRPr sz="300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E05BE1-336E-482F-B0A8-559729116DCA}"/>
              </a:ext>
            </a:extLst>
          </p:cNvPr>
          <p:cNvSpPr>
            <a:spLocks noGrp="1"/>
          </p:cNvSpPr>
          <p:nvPr/>
        </p:nvSpPr>
        <p:spPr>
          <a:xfrm>
            <a:off x="1143000" y="4529402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從即時姿勢覺察，到去識別雲端建議</a:t>
            </a:r>
            <a:endParaRPr sz="1500" b="0" dirty="0">
              <a:solidFill>
                <a:srgbClr val="6B66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6146229-CDC7-4E49-ABC9-6064C0FE2C49}"/>
              </a:ext>
            </a:extLst>
          </p:cNvPr>
          <p:cNvSpPr>
            <a:spLocks noGrp="1"/>
          </p:cNvSpPr>
          <p:nvPr/>
        </p:nvSpPr>
        <p:spPr>
          <a:xfrm>
            <a:off x="1143000" y="5272352"/>
            <a:ext cx="2381250" cy="285750"/>
          </a:xfrm>
          <a:prstGeom prst="roundRect">
            <a:avLst>
              <a:gd name="adj" fmla="val 13333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848E64-2663-4BD6-BF3A-CB91D1B83732}"/>
              </a:ext>
            </a:extLst>
          </p:cNvPr>
          <p:cNvSpPr>
            <a:spLocks noGrp="1"/>
          </p:cNvSpPr>
          <p:nvPr/>
        </p:nvSpPr>
        <p:spPr>
          <a:xfrm>
            <a:off x="1143000" y="5272352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 dirty="0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APP × WEB × CLOUD AI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DE2493C6-55C2-4443-8D1F-AD42EA1A4315}"/>
              </a:ext>
            </a:extLst>
          </p:cNvPr>
          <p:cNvSpPr>
            <a:spLocks noGrp="1"/>
          </p:cNvSpPr>
          <p:nvPr/>
        </p:nvSpPr>
        <p:spPr>
          <a:xfrm>
            <a:off x="6524625" y="1266825"/>
            <a:ext cx="5238750" cy="3429000"/>
          </a:xfrm>
          <a:prstGeom prst="roundRect">
            <a:avLst>
              <a:gd name="adj" fmla="val 1667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anchor="ctr"/>
          <a:lstStyle/>
          <a:p>
            <a:endParaRPr lang="zh-TW" altLang="en-US"/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1373981"/>
            <a:ext cx="5143500" cy="3214688"/>
          </a:xfrm>
          <a:prstGeom prst="roundRect">
            <a:avLst>
              <a:gd name="adj" fmla="val 1714"/>
            </a:avLst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7F6CA00-761C-488B-846D-853A2B474555}"/>
              </a:ext>
            </a:extLst>
          </p:cNvPr>
          <p:cNvSpPr>
            <a:spLocks noGrp="1"/>
          </p:cNvSpPr>
          <p:nvPr/>
        </p:nvSpPr>
        <p:spPr>
          <a:xfrm>
            <a:off x="6282267" y="1266825"/>
            <a:ext cx="109008" cy="3429000"/>
          </a:xfrm>
          <a:prstGeom prst="rect">
            <a:avLst/>
          </a:prstGeom>
          <a:solidFill>
            <a:srgbClr val="C58D2D"/>
          </a:solidFill>
          <a:ln w="9525">
            <a:solidFill>
              <a:srgbClr val="C58D2D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EE005C-22F1-4994-A6D4-AFB06B8F2023}"/>
              </a:ext>
            </a:extLst>
          </p:cNvPr>
          <p:cNvSpPr>
            <a:spLocks noGrp="1"/>
          </p:cNvSpPr>
          <p:nvPr/>
        </p:nvSpPr>
        <p:spPr>
          <a:xfrm>
            <a:off x="6762750" y="5153289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33 </a:t>
            </a:r>
            <a:r>
              <a:rPr sz="1425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點骨架</a:t>
            </a:r>
            <a:r>
              <a:rPr sz="1425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 →  </a:t>
            </a:r>
            <a:r>
              <a:rPr sz="1425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衍生摘要</a:t>
            </a:r>
            <a:r>
              <a:rPr sz="1425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 →  </a:t>
            </a:r>
            <a:r>
              <a:rPr sz="1425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個人化下一步</a:t>
            </a:r>
            <a:endParaRPr sz="1425" b="1" dirty="0">
              <a:solidFill>
                <a:srgbClr val="773324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00FED6-748F-44D1-830D-C5A0DF0B63EC}"/>
              </a:ext>
            </a:extLst>
          </p:cNvPr>
          <p:cNvSpPr>
            <a:spLocks noGrp="1"/>
          </p:cNvSpPr>
          <p:nvPr/>
        </p:nvSpPr>
        <p:spPr>
          <a:xfrm>
            <a:off x="6953250" y="5553339"/>
            <a:ext cx="43815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4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8F96C17-6D12-4483-9CA0-BD4628F934A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POC CHECKLIST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D7D9A24-A93D-48DE-8423-0309EEAAC00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本次只驗證三個不可缺少的雲端角色</a:t>
            </a:r>
            <a:endParaRPr sz="270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60BC16-44F2-4F70-B21F-200C3AC9C31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每一項都對應目前雛形可操作、可由程式與測試支持的功能。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6FA16B-E5A9-4AFA-B849-EB270920392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183C44E1-E5FF-4DB2-A620-63BDF5396684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72800" cy="1123950"/>
          </a:xfrm>
          <a:prstGeom prst="roundRect">
            <a:avLst>
              <a:gd name="adj" fmla="val 5085"/>
            </a:avLst>
          </a:prstGeom>
          <a:solidFill>
            <a:srgbClr val="FFF9EE"/>
          </a:solidFill>
          <a:ln w="9525">
            <a:solidFill>
              <a:srgbClr val="A947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682794-8738-4901-90C8-0EA9F4E6FB3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990600" cy="1123950"/>
          </a:xfrm>
          <a:prstGeom prst="rect">
            <a:avLst/>
          </a:prstGeom>
          <a:solidFill>
            <a:srgbClr val="F1D6C8"/>
          </a:solidFill>
          <a:ln w="9525">
            <a:solidFill>
              <a:srgbClr val="A9473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95E2C9-950E-4015-99B5-A262CE26749A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990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5B4931-8C2E-4E39-813E-72E72BC1A245}"/>
              </a:ext>
            </a:extLst>
          </p:cNvPr>
          <p:cNvSpPr>
            <a:spLocks noGrp="1"/>
          </p:cNvSpPr>
          <p:nvPr/>
        </p:nvSpPr>
        <p:spPr>
          <a:xfrm>
            <a:off x="1885950" y="21717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Azure App Service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37E357-9364-4B9D-9C36-850E4A251268}"/>
              </a:ext>
            </a:extLst>
          </p:cNvPr>
          <p:cNvSpPr>
            <a:spLocks noGrp="1"/>
          </p:cNvSpPr>
          <p:nvPr/>
        </p:nvSpPr>
        <p:spPr>
          <a:xfrm>
            <a:off x="1885950" y="25812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dirty="0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Web </a:t>
            </a:r>
            <a:r>
              <a:rPr sz="1200" b="1" dirty="0" err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介面＋Web／App</a:t>
            </a:r>
            <a:r>
              <a:rPr sz="1200" b="1" dirty="0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1" dirty="0" err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共用</a:t>
            </a:r>
            <a:r>
              <a:rPr sz="1200" b="1" dirty="0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1" dirty="0" err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FastAPI</a:t>
            </a:r>
            <a:endParaRPr sz="1200" b="1" dirty="0">
              <a:solidFill>
                <a:srgbClr val="A9473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AB6DFC-3339-4199-92D7-596A42DE4707}"/>
              </a:ext>
            </a:extLst>
          </p:cNvPr>
          <p:cNvSpPr>
            <a:spLocks noGrp="1"/>
          </p:cNvSpPr>
          <p:nvPr/>
        </p:nvSpPr>
        <p:spPr>
          <a:xfrm>
            <a:off x="6000750" y="2171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  <a:endParaRPr sz="1050" b="1" dirty="0">
              <a:solidFill>
                <a:srgbClr val="6B66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E4057A-5D93-4E0C-9468-328DFD9A4C7D}"/>
              </a:ext>
            </a:extLst>
          </p:cNvPr>
          <p:cNvSpPr>
            <a:spLocks noGrp="1"/>
          </p:cNvSpPr>
          <p:nvPr/>
        </p:nvSpPr>
        <p:spPr>
          <a:xfrm>
            <a:off x="6000750" y="24574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同一套雛形能否讓</a:t>
            </a:r>
            <a:r>
              <a:rPr sz="1350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Web </a:t>
            </a:r>
            <a:r>
              <a:rPr sz="1350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與</a:t>
            </a:r>
            <a:r>
              <a:rPr sz="1350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App </a:t>
            </a:r>
            <a:r>
              <a:rPr sz="1350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共享姿態分析與工作階段</a:t>
            </a:r>
            <a:r>
              <a:rPr sz="1350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API？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8059D1EE-5BCF-4962-97C3-5930FACE514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1123950"/>
          </a:xfrm>
          <a:prstGeom prst="roundRect">
            <a:avLst>
              <a:gd name="adj" fmla="val 5085"/>
            </a:avLst>
          </a:prstGeom>
          <a:solidFill>
            <a:srgbClr val="FFF9EE"/>
          </a:solidFill>
          <a:ln w="9525">
            <a:solidFill>
              <a:srgbClr val="2D43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B2429C-9911-4A41-BDF9-C3F0C84CC536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990600" cy="1123950"/>
          </a:xfrm>
          <a:prstGeom prst="rect">
            <a:avLst/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09D256-DF5C-420F-AE69-2EA810B043A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990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1B6E91-D3B7-4674-9EAF-8F0FAC898F16}"/>
              </a:ext>
            </a:extLst>
          </p:cNvPr>
          <p:cNvSpPr>
            <a:spLocks noGrp="1"/>
          </p:cNvSpPr>
          <p:nvPr/>
        </p:nvSpPr>
        <p:spPr>
          <a:xfrm>
            <a:off x="1885950" y="360045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Azure Database for PostgreSQL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2B8B23-AEBF-4406-9B6C-E32C218EE1B5}"/>
              </a:ext>
            </a:extLst>
          </p:cNvPr>
          <p:cNvSpPr>
            <a:spLocks noGrp="1"/>
          </p:cNvSpPr>
          <p:nvPr/>
        </p:nvSpPr>
        <p:spPr>
          <a:xfrm>
            <a:off x="1885950" y="401002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衍生指標、摘要、歷史與刪除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D3BC1C-47E9-475C-A09C-9BFE9B5A6F42}"/>
              </a:ext>
            </a:extLst>
          </p:cNvPr>
          <p:cNvSpPr>
            <a:spLocks noGrp="1"/>
          </p:cNvSpPr>
          <p:nvPr/>
        </p:nvSpPr>
        <p:spPr>
          <a:xfrm>
            <a:off x="6000750" y="3600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080BD4-87C7-41F6-A8DF-57C24798167F}"/>
              </a:ext>
            </a:extLst>
          </p:cNvPr>
          <p:cNvSpPr>
            <a:spLocks noGrp="1"/>
          </p:cNvSpPr>
          <p:nvPr/>
        </p:nvSpPr>
        <p:spPr>
          <a:xfrm>
            <a:off x="6000750" y="388620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能否不保存原始影像，仍支援工作階段與長期趨勢？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19BCE1FA-21DD-480E-9B41-F9018228BDD1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1123950"/>
          </a:xfrm>
          <a:prstGeom prst="roundRect">
            <a:avLst>
              <a:gd name="adj" fmla="val 5085"/>
            </a:avLst>
          </a:prstGeom>
          <a:solidFill>
            <a:srgbClr val="FFF9EE"/>
          </a:solidFill>
          <a:ln w="9525">
            <a:solidFill>
              <a:srgbClr val="C58D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5A0AC8-1F46-43D7-A011-C0BA8821690A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990600" cy="1123950"/>
          </a:xfrm>
          <a:prstGeom prst="rect">
            <a:avLst/>
          </a:prstGeom>
          <a:solidFill>
            <a:srgbClr val="F5E6BD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F1B8B1-81FA-4B0E-8BE8-DD0EBC35ADDB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9906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4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ADA5F9-3D86-4B19-9AB8-D747A280851B}"/>
              </a:ext>
            </a:extLst>
          </p:cNvPr>
          <p:cNvSpPr>
            <a:spLocks noGrp="1"/>
          </p:cNvSpPr>
          <p:nvPr/>
        </p:nvSpPr>
        <p:spPr>
          <a:xfrm>
            <a:off x="1885950" y="5029200"/>
            <a:ext cx="352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Azure OpenAI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7E945B-A709-4A5A-96BE-F0C03C44A033}"/>
              </a:ext>
            </a:extLst>
          </p:cNvPr>
          <p:cNvSpPr>
            <a:spLocks noGrp="1"/>
          </p:cNvSpPr>
          <p:nvPr/>
        </p:nvSpPr>
        <p:spPr>
          <a:xfrm>
            <a:off x="1885950" y="5438775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去識別摘要 → 個人化下一步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BD4185-7135-4A36-9B00-12B09A4B8172}"/>
              </a:ext>
            </a:extLst>
          </p:cNvPr>
          <p:cNvSpPr>
            <a:spLocks noGrp="1"/>
          </p:cNvSpPr>
          <p:nvPr/>
        </p:nvSpPr>
        <p:spPr>
          <a:xfrm>
            <a:off x="6000750" y="50292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驗證問題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7922AF-44FE-4CDB-83EB-144DF2CC2BA2}"/>
              </a:ext>
            </a:extLst>
          </p:cNvPr>
          <p:cNvSpPr>
            <a:spLocks noGrp="1"/>
          </p:cNvSpPr>
          <p:nvPr/>
        </p:nvSpPr>
        <p:spPr>
          <a:xfrm>
            <a:off x="6000750" y="53149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生成式 AI 能否只給安全建議，不介入即時姿勢判定？</a:t>
            </a:r>
          </a:p>
        </p:txBody>
      </p:sp>
    </p:spTree>
    <p:extLst>
      <p:ext uri="{BB962C8B-B14F-4D97-AF65-F5344CB8AC3E}">
        <p14:creationId xmlns:p14="http://schemas.microsoft.com/office/powerpoint/2010/main" val="144492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86E36BE-D72F-4692-9CC7-9921B5FE393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SYSTEM ARCHITECTURE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BA5BB5-67CA-416D-86FF-1A252DFADD4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 與 App 共用後端；只有 Web 需要託管介面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73B30C-EB52-49BD-9C71-CA3E87C1E1C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相機與提醒在使用者端；姿態分析、資料與 AI 秘密集中在可信任後端。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24C5E5-A353-450B-868C-1A8119859C2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向右箭號 4">
            <a:extLst>
              <a:ext uri="{FF2B5EF4-FFF2-40B4-BE49-F238E27FC236}">
                <a16:creationId xmlns:a16="http://schemas.microsoft.com/office/drawing/2014/main" id="{108D2F60-BD92-44E8-988B-92435825BC2B}"/>
              </a:ext>
            </a:extLst>
          </p:cNvPr>
          <p:cNvSpPr>
            <a:spLocks noGrp="1"/>
          </p:cNvSpPr>
          <p:nvPr/>
        </p:nvSpPr>
        <p:spPr>
          <a:xfrm>
            <a:off x="2428875" y="2486025"/>
            <a:ext cx="838200" cy="24765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081640F8-FC4D-4FDD-B11C-9E3B2A48C9AE}"/>
              </a:ext>
            </a:extLst>
          </p:cNvPr>
          <p:cNvSpPr>
            <a:spLocks noGrp="1"/>
          </p:cNvSpPr>
          <p:nvPr/>
        </p:nvSpPr>
        <p:spPr>
          <a:xfrm>
            <a:off x="2428875" y="4238625"/>
            <a:ext cx="838200" cy="24765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4FDA5-C1AE-4A1B-9483-ED731000B8A1}"/>
              </a:ext>
            </a:extLst>
          </p:cNvPr>
          <p:cNvSpPr>
            <a:spLocks noGrp="1"/>
          </p:cNvSpPr>
          <p:nvPr/>
        </p:nvSpPr>
        <p:spPr>
          <a:xfrm>
            <a:off x="7210425" y="4523765"/>
            <a:ext cx="666750" cy="105385"/>
          </a:xfrm>
          <a:prstGeom prst="rect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949627-5C47-43BD-AA7A-24B339E3AB74}"/>
              </a:ext>
            </a:extLst>
          </p:cNvPr>
          <p:cNvSpPr>
            <a:spLocks noGrp="1"/>
          </p:cNvSpPr>
          <p:nvPr/>
        </p:nvSpPr>
        <p:spPr>
          <a:xfrm>
            <a:off x="7839075" y="2952750"/>
            <a:ext cx="38100" cy="1638300"/>
          </a:xfrm>
          <a:prstGeom prst="rect">
            <a:avLst/>
          </a:prstGeom>
          <a:solidFill>
            <a:srgbClr val="D8CDBD"/>
          </a:solidFill>
          <a:ln w="9525">
            <a:solidFill>
              <a:srgbClr val="D8CDBD"/>
            </a:solidFill>
            <a:prstDash val="solid"/>
          </a:ln>
        </p:spPr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B8E3A365-9F13-4F2A-9A1E-E3ED604DB217}"/>
              </a:ext>
            </a:extLst>
          </p:cNvPr>
          <p:cNvSpPr>
            <a:spLocks noGrp="1"/>
          </p:cNvSpPr>
          <p:nvPr/>
        </p:nvSpPr>
        <p:spPr>
          <a:xfrm>
            <a:off x="7839075" y="2838450"/>
            <a:ext cx="419100" cy="22860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5E986542-179F-4812-A9B1-3A28B9FD19D6}"/>
              </a:ext>
            </a:extLst>
          </p:cNvPr>
          <p:cNvSpPr>
            <a:spLocks noGrp="1"/>
          </p:cNvSpPr>
          <p:nvPr/>
        </p:nvSpPr>
        <p:spPr>
          <a:xfrm>
            <a:off x="7839075" y="4457700"/>
            <a:ext cx="419100" cy="22860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EDC142-19C6-425B-A8D0-A4B0DFFC92D5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使用者端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E3C97C0-69E1-4548-BEBF-5A1AACBBDA09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714500" cy="952500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 w="9525">
            <a:solidFill>
              <a:srgbClr val="A9473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7379E1-DD96-4F5A-B1FA-7D6CA6529F4E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WEB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2BD601-1BA5-45A9-A284-6661B44E9D92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Expo Web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FBBFEE2-EB98-41F5-BD82-9BD68960288D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1714500" cy="952500"/>
          </a:xfrm>
          <a:prstGeom prst="roundRect">
            <a:avLst>
              <a:gd name="adj" fmla="val 6000"/>
            </a:avLst>
          </a:prstGeom>
          <a:solidFill>
            <a:srgbClr val="FFF9EE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BC2DD6-0A06-469C-B712-BED718E68133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APP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DFE839-C50B-4777-9362-DACA1B3A8730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iOS／Android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01911ED-B420-479B-B18F-107AFCAE08AD}"/>
              </a:ext>
            </a:extLst>
          </p:cNvPr>
          <p:cNvSpPr>
            <a:spLocks noGrp="1"/>
          </p:cNvSpPr>
          <p:nvPr/>
        </p:nvSpPr>
        <p:spPr>
          <a:xfrm>
            <a:off x="3286125" y="1905000"/>
            <a:ext cx="4191000" cy="3638550"/>
          </a:xfrm>
          <a:prstGeom prst="roundRect">
            <a:avLst>
              <a:gd name="adj" fmla="val 1571"/>
            </a:avLst>
          </a:prstGeom>
          <a:solidFill>
            <a:srgbClr val="EAE3D6"/>
          </a:solidFill>
          <a:ln w="9525">
            <a:solidFill>
              <a:srgbClr val="7733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1B28EB-33BA-4353-BE5B-3A9A4E1CBF6D}"/>
              </a:ext>
            </a:extLst>
          </p:cNvPr>
          <p:cNvSpPr>
            <a:spLocks noGrp="1"/>
          </p:cNvSpPr>
          <p:nvPr/>
        </p:nvSpPr>
        <p:spPr>
          <a:xfrm>
            <a:off x="3552825" y="209550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AZURE APP SERVICE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DCE9C3D-4173-4CC2-BC28-EFEA29B9771B}"/>
              </a:ext>
            </a:extLst>
          </p:cNvPr>
          <p:cNvSpPr>
            <a:spLocks noGrp="1"/>
          </p:cNvSpPr>
          <p:nvPr/>
        </p:nvSpPr>
        <p:spPr>
          <a:xfrm>
            <a:off x="3552825" y="2533650"/>
            <a:ext cx="3657600" cy="971550"/>
          </a:xfrm>
          <a:prstGeom prst="roundRect">
            <a:avLst>
              <a:gd name="adj" fmla="val 3922"/>
            </a:avLst>
          </a:prstGeom>
          <a:solidFill>
            <a:srgbClr val="FFF9EE"/>
          </a:solidFill>
          <a:ln w="9525">
            <a:solidFill>
              <a:srgbClr val="A9473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845C52-19CD-487F-BE3C-38A3435732FB}"/>
              </a:ext>
            </a:extLst>
          </p:cNvPr>
          <p:cNvSpPr>
            <a:spLocks noGrp="1"/>
          </p:cNvSpPr>
          <p:nvPr/>
        </p:nvSpPr>
        <p:spPr>
          <a:xfrm>
            <a:off x="3762375" y="2711451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 App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70FFD-279D-46BE-8311-FB46CDBFF3BE}"/>
              </a:ext>
            </a:extLst>
          </p:cNvPr>
          <p:cNvSpPr>
            <a:spLocks noGrp="1"/>
          </p:cNvSpPr>
          <p:nvPr/>
        </p:nvSpPr>
        <p:spPr>
          <a:xfrm>
            <a:off x="3762375" y="3073401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只服務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Web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靜態介面</a:t>
            </a:r>
            <a:endParaRPr sz="1200" b="0" dirty="0">
              <a:solidFill>
                <a:srgbClr val="6B66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27B00FA6-7AAE-405F-B892-1C7A6E9B20D1}"/>
              </a:ext>
            </a:extLst>
          </p:cNvPr>
          <p:cNvSpPr>
            <a:spLocks noGrp="1"/>
          </p:cNvSpPr>
          <p:nvPr/>
        </p:nvSpPr>
        <p:spPr>
          <a:xfrm>
            <a:off x="3552825" y="3905250"/>
            <a:ext cx="3657600" cy="1295400"/>
          </a:xfrm>
          <a:prstGeom prst="roundRect">
            <a:avLst>
              <a:gd name="adj" fmla="val 2941"/>
            </a:avLst>
          </a:prstGeom>
          <a:solidFill>
            <a:srgbClr val="20272A"/>
          </a:solidFill>
          <a:ln w="9525">
            <a:solidFill>
              <a:srgbClr val="20272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144DAE-5762-4F03-AE13-ACD723ADE4B1}"/>
              </a:ext>
            </a:extLst>
          </p:cNvPr>
          <p:cNvSpPr>
            <a:spLocks noGrp="1"/>
          </p:cNvSpPr>
          <p:nvPr/>
        </p:nvSpPr>
        <p:spPr>
          <a:xfrm>
            <a:off x="3762375" y="4085167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FF9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FF9EF"/>
                </a:solidFill>
                <a:latin typeface="Arial Unicode MS"/>
                <a:ea typeface="Arial Unicode MS"/>
                <a:cs typeface="Arial Unicode MS"/>
              </a:rPr>
              <a:t>FastAPI API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7328B5-2F9E-4611-A79E-90679B4DEA0A}"/>
              </a:ext>
            </a:extLst>
          </p:cNvPr>
          <p:cNvSpPr>
            <a:spLocks noGrp="1"/>
          </p:cNvSpPr>
          <p:nvPr/>
        </p:nvSpPr>
        <p:spPr>
          <a:xfrm>
            <a:off x="3762375" y="4475692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MediaPipe</a:t>
            </a:r>
            <a:r>
              <a:rPr sz="1200" b="0" dirty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 33 </a:t>
            </a:r>
            <a:r>
              <a:rPr sz="1200" b="0" dirty="0" err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點／可解釋規則</a:t>
            </a:r>
            <a:endParaRPr sz="1200" b="0" dirty="0">
              <a:solidFill>
                <a:srgbClr val="F5E6BD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1200" b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工作階段／AI</a:t>
            </a:r>
            <a:r>
              <a:rPr sz="1200" b="0" dirty="0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 provider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56C8C2-4E2B-4805-83E7-32B531EDE52A}"/>
              </a:ext>
            </a:extLst>
          </p:cNvPr>
          <p:cNvSpPr>
            <a:spLocks noGrp="1"/>
          </p:cNvSpPr>
          <p:nvPr/>
        </p:nvSpPr>
        <p:spPr>
          <a:xfrm>
            <a:off x="8286750" y="18669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共用雲端服務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CABDC9E8-AFB0-4BB0-9FF0-8E162EDDFBFE}"/>
              </a:ext>
            </a:extLst>
          </p:cNvPr>
          <p:cNvSpPr>
            <a:spLocks noGrp="1"/>
          </p:cNvSpPr>
          <p:nvPr/>
        </p:nvSpPr>
        <p:spPr>
          <a:xfrm>
            <a:off x="8286750" y="2228850"/>
            <a:ext cx="3143250" cy="1181100"/>
          </a:xfrm>
          <a:prstGeom prst="roundRect">
            <a:avLst>
              <a:gd name="adj" fmla="val 4839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332EE1-14D3-428C-B96E-E5EEECB99616}"/>
              </a:ext>
            </a:extLst>
          </p:cNvPr>
          <p:cNvSpPr>
            <a:spLocks noGrp="1"/>
          </p:cNvSpPr>
          <p:nvPr/>
        </p:nvSpPr>
        <p:spPr>
          <a:xfrm>
            <a:off x="8515350" y="24193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Azure Database</a:t>
            </a:r>
          </a:p>
          <a:p>
            <a:pPr algn="l">
              <a:def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for PostgreSQL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638DF4-132E-4C04-A9CB-B632C508800D}"/>
              </a:ext>
            </a:extLst>
          </p:cNvPr>
          <p:cNvSpPr>
            <a:spLocks noGrp="1"/>
          </p:cNvSpPr>
          <p:nvPr/>
        </p:nvSpPr>
        <p:spPr>
          <a:xfrm>
            <a:off x="8515350" y="3067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衍生指標／摘要／回饋</a:t>
            </a: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3E2183D0-1726-4F7C-A082-A61E9C7FC55F}"/>
              </a:ext>
            </a:extLst>
          </p:cNvPr>
          <p:cNvSpPr>
            <a:spLocks noGrp="1"/>
          </p:cNvSpPr>
          <p:nvPr/>
        </p:nvSpPr>
        <p:spPr>
          <a:xfrm>
            <a:off x="8286750" y="3981450"/>
            <a:ext cx="3143250" cy="1181100"/>
          </a:xfrm>
          <a:prstGeom prst="roundRect">
            <a:avLst>
              <a:gd name="adj" fmla="val 4839"/>
            </a:avLst>
          </a:prstGeom>
          <a:solidFill>
            <a:srgbClr val="F5E6BD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55F8DB-1997-4545-B52D-AB4695D65DFB}"/>
              </a:ext>
            </a:extLst>
          </p:cNvPr>
          <p:cNvSpPr>
            <a:spLocks noGrp="1"/>
          </p:cNvSpPr>
          <p:nvPr/>
        </p:nvSpPr>
        <p:spPr>
          <a:xfrm>
            <a:off x="8515350" y="42100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Azure OpenAI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616808D-ADDE-45D5-9329-3CF54823243A}"/>
              </a:ext>
            </a:extLst>
          </p:cNvPr>
          <p:cNvSpPr>
            <a:spLocks noGrp="1"/>
          </p:cNvSpPr>
          <p:nvPr/>
        </p:nvSpPr>
        <p:spPr>
          <a:xfrm>
            <a:off x="8515350" y="46672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去識別摘要 → 行動建議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1BA168BD-14EB-4249-8C43-A3A39027001B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F1D6C8"/>
          </a:solidFill>
          <a:ln w="9525">
            <a:solidFill>
              <a:srgbClr val="773324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E6EC21-18EE-4B85-96C6-D0AE5E334962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WEB ONLY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E76390-ABAC-4D79-9905-A6E8BE224F07}"/>
              </a:ext>
            </a:extLst>
          </p:cNvPr>
          <p:cNvSpPr>
            <a:spLocks noGrp="1"/>
          </p:cNvSpPr>
          <p:nvPr/>
        </p:nvSpPr>
        <p:spPr>
          <a:xfrm>
            <a:off x="2038350" y="59055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Web App </a:t>
            </a:r>
            <a:r>
              <a:rPr sz="1125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託管</a:t>
            </a:r>
            <a:endParaRPr sz="1125" b="0" dirty="0">
              <a:solidFill>
                <a:srgbClr val="6B665D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6E425D98-B1A9-4810-80F9-E56C517F20E7}"/>
              </a:ext>
            </a:extLst>
          </p:cNvPr>
          <p:cNvSpPr>
            <a:spLocks noGrp="1"/>
          </p:cNvSpPr>
          <p:nvPr/>
        </p:nvSpPr>
        <p:spPr>
          <a:xfrm>
            <a:off x="4333875" y="5905500"/>
            <a:ext cx="1333500" cy="285750"/>
          </a:xfrm>
          <a:prstGeom prst="roundRect">
            <a:avLst>
              <a:gd name="adj" fmla="val 13333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B003D99-E01E-49A0-9C87-6654E8C7039E}"/>
              </a:ext>
            </a:extLst>
          </p:cNvPr>
          <p:cNvSpPr>
            <a:spLocks noGrp="1"/>
          </p:cNvSpPr>
          <p:nvPr/>
        </p:nvSpPr>
        <p:spPr>
          <a:xfrm>
            <a:off x="4333875" y="59055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 dirty="0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WEB + APP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47581EC-0C2D-438B-AF8D-D8BDF2243333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API／資料庫／AI 全部共用</a:t>
            </a:r>
          </a:p>
        </p:txBody>
      </p:sp>
    </p:spTree>
    <p:extLst>
      <p:ext uri="{BB962C8B-B14F-4D97-AF65-F5344CB8AC3E}">
        <p14:creationId xmlns:p14="http://schemas.microsoft.com/office/powerpoint/2010/main" val="98449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4AAB22D-DED8-4342-A1C8-5FBC69DF75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01 · AZURE APP SERVICE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79BADE-3983-43D9-BD65-CD3EEA55656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一套 Expo 介面，Web 與 App 共用同一支 API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FA6EB3-317E-4FA0-A51E-D515FA84A47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Web App 負責瀏覽器介面；FastAPI App 同時服務 Web、iOS 與 Android。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1F8051-8D3A-4E84-BF65-85700D57670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D5B13A5-821A-43B0-A31F-75B3F8C673D2}"/>
              </a:ext>
            </a:extLst>
          </p:cNvPr>
          <p:cNvSpPr>
            <a:spLocks noGrp="1"/>
          </p:cNvSpPr>
          <p:nvPr/>
        </p:nvSpPr>
        <p:spPr>
          <a:xfrm>
            <a:off x="561975" y="1952625"/>
            <a:ext cx="6286500" cy="3981450"/>
          </a:xfrm>
          <a:prstGeom prst="roundRect">
            <a:avLst>
              <a:gd name="adj" fmla="val 1435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3"/>
          <a:srcRect l="6613" r="6648" b="27070"/>
          <a:stretch>
            <a:fillRect/>
          </a:stretch>
        </p:blipFill>
        <p:spPr>
          <a:xfrm>
            <a:off x="716573" y="2625195"/>
            <a:ext cx="5977304" cy="3141134"/>
          </a:xfrm>
          <a:prstGeom prst="roundRect">
            <a:avLst>
              <a:gd name="adj" fmla="val 1471"/>
            </a:avLst>
          </a:prstGeom>
        </p:spPr>
      </p:pic>
      <p:sp>
        <p:nvSpPr>
          <p:cNvPr id="7" name="圓角矩形 6">
            <a:extLst>
              <a:ext uri="{FF2B5EF4-FFF2-40B4-BE49-F238E27FC236}">
                <a16:creationId xmlns:a16="http://schemas.microsoft.com/office/drawing/2014/main" id="{58555DA8-583B-484B-A4EB-33B646B49B04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428750" cy="285750"/>
          </a:xfrm>
          <a:prstGeom prst="roundRect">
            <a:avLst>
              <a:gd name="adj" fmla="val 13333"/>
            </a:avLst>
          </a:prstGeom>
          <a:solidFill>
            <a:srgbClr val="F5E6BD"/>
          </a:solidFill>
          <a:ln w="9525">
            <a:solidFill>
              <a:srgbClr val="7733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C51327-806A-40D1-8975-C6804F6880BF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持續偏移提醒</a:t>
            </a:r>
            <a:endParaRPr sz="975" b="1" dirty="0">
              <a:solidFill>
                <a:srgbClr val="773324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2B3439-47C8-4EE4-A1A4-1E79711B19B8}"/>
              </a:ext>
            </a:extLst>
          </p:cNvPr>
          <p:cNvSpPr>
            <a:spLocks noGrp="1"/>
          </p:cNvSpPr>
          <p:nvPr/>
        </p:nvSpPr>
        <p:spPr>
          <a:xfrm>
            <a:off x="4848225" y="3400425"/>
            <a:ext cx="1695450" cy="2952750"/>
          </a:xfrm>
          <a:prstGeom prst="roundRect">
            <a:avLst>
              <a:gd name="adj" fmla="val 3371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41" name="圖片 40"/>
          <p:cNvPicPr>
            <a:picLocks noChangeAspect="1"/>
          </p:cNvPicPr>
          <p:nvPr/>
        </p:nvPicPr>
        <p:blipFill>
          <a:blip r:embed="rId4"/>
          <a:srcRect t="8742" b="8742"/>
          <a:stretch>
            <a:fillRect/>
          </a:stretch>
        </p:blipFill>
        <p:spPr>
          <a:xfrm>
            <a:off x="4895850" y="3448050"/>
            <a:ext cx="1600200" cy="2857500"/>
          </a:xfrm>
          <a:prstGeom prst="roundRect">
            <a:avLst>
              <a:gd name="adj" fmla="val 3571"/>
            </a:avLst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C5B025B-535F-4C15-A987-A9F57A4981D8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dirty="0" err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  <a:endParaRPr sz="1200" b="1" dirty="0">
              <a:solidFill>
                <a:srgbClr val="A9473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F50790-686D-41B1-897E-5F816C003229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4171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確認</a:t>
            </a:r>
            <a:r>
              <a:rPr sz="1275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Web </a:t>
            </a:r>
            <a:r>
              <a:rPr sz="1275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與</a:t>
            </a:r>
            <a:r>
              <a:rPr sz="1275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App </a:t>
            </a:r>
            <a:r>
              <a:rPr sz="1275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能共用姿態分析、健康檢查與工作階段</a:t>
            </a:r>
            <a:r>
              <a:rPr sz="1275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75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API，同時保留各自的介面責任</a:t>
            </a:r>
            <a:r>
              <a:rPr sz="1275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C45391-F60E-460B-B3BA-36B6B19A7B6B}"/>
              </a:ext>
            </a:extLst>
          </p:cNvPr>
          <p:cNvSpPr>
            <a:spLocks noGrp="1"/>
          </p:cNvSpPr>
          <p:nvPr/>
        </p:nvSpPr>
        <p:spPr>
          <a:xfrm>
            <a:off x="7239000" y="32004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730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31652743-0E69-422F-A47F-8D06845E3A9E}"/>
              </a:ext>
            </a:extLst>
          </p:cNvPr>
          <p:cNvSpPr>
            <a:spLocks noGrp="1"/>
          </p:cNvSpPr>
          <p:nvPr/>
        </p:nvSpPr>
        <p:spPr>
          <a:xfrm>
            <a:off x="8020050" y="3638550"/>
            <a:ext cx="247650" cy="15240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CC6CDC4-3A73-4846-8894-27A0051132E9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819150" cy="47625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79FE00-E569-449F-996F-6FB814AAF1F8}"/>
              </a:ext>
            </a:extLst>
          </p:cNvPr>
          <p:cNvSpPr>
            <a:spLocks noGrp="1"/>
          </p:cNvSpPr>
          <p:nvPr/>
        </p:nvSpPr>
        <p:spPr>
          <a:xfrm>
            <a:off x="7277100" y="3486150"/>
            <a:ext cx="74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Web／App</a:t>
            </a:r>
            <a:endParaRPr sz="105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" name="向右箭號 16">
            <a:extLst>
              <a:ext uri="{FF2B5EF4-FFF2-40B4-BE49-F238E27FC236}">
                <a16:creationId xmlns:a16="http://schemas.microsoft.com/office/drawing/2014/main" id="{B72F8E02-BDB5-4179-A09E-4458FF738788}"/>
              </a:ext>
            </a:extLst>
          </p:cNvPr>
          <p:cNvSpPr>
            <a:spLocks noGrp="1"/>
          </p:cNvSpPr>
          <p:nvPr/>
        </p:nvSpPr>
        <p:spPr>
          <a:xfrm>
            <a:off x="9039225" y="3638550"/>
            <a:ext cx="247650" cy="15240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6B97368-173D-4057-8031-5FB0DC29A472}"/>
              </a:ext>
            </a:extLst>
          </p:cNvPr>
          <p:cNvSpPr>
            <a:spLocks noGrp="1"/>
          </p:cNvSpPr>
          <p:nvPr/>
        </p:nvSpPr>
        <p:spPr>
          <a:xfrm>
            <a:off x="8258175" y="3486150"/>
            <a:ext cx="819150" cy="476250"/>
          </a:xfrm>
          <a:prstGeom prst="roundRect">
            <a:avLst>
              <a:gd name="adj" fmla="val 8000"/>
            </a:avLst>
          </a:prstGeom>
          <a:solidFill>
            <a:srgbClr val="F1D6C8"/>
          </a:solidFill>
          <a:ln w="9525">
            <a:solidFill>
              <a:srgbClr val="A94730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05818C-4CE9-4DDA-8CA9-0954A3CA8459}"/>
              </a:ext>
            </a:extLst>
          </p:cNvPr>
          <p:cNvSpPr>
            <a:spLocks noGrp="1"/>
          </p:cNvSpPr>
          <p:nvPr/>
        </p:nvSpPr>
        <p:spPr>
          <a:xfrm>
            <a:off x="8296275" y="3486150"/>
            <a:ext cx="74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FastAPI</a:t>
            </a:r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EF71F860-B67A-4868-A080-9387B2B8FD7C}"/>
              </a:ext>
            </a:extLst>
          </p:cNvPr>
          <p:cNvSpPr>
            <a:spLocks noGrp="1"/>
          </p:cNvSpPr>
          <p:nvPr/>
        </p:nvSpPr>
        <p:spPr>
          <a:xfrm>
            <a:off x="10058400" y="3638550"/>
            <a:ext cx="247650" cy="15240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7AF660FB-60F3-4957-B865-90A1D098B474}"/>
              </a:ext>
            </a:extLst>
          </p:cNvPr>
          <p:cNvSpPr>
            <a:spLocks noGrp="1"/>
          </p:cNvSpPr>
          <p:nvPr/>
        </p:nvSpPr>
        <p:spPr>
          <a:xfrm>
            <a:off x="9277350" y="3486150"/>
            <a:ext cx="819150" cy="47625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  <p:txBody>
          <a:bodyPr anchor="ctr"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89734D-5D47-4FCE-8A1C-0775E6921D59}"/>
              </a:ext>
            </a:extLst>
          </p:cNvPr>
          <p:cNvSpPr>
            <a:spLocks noGrp="1"/>
          </p:cNvSpPr>
          <p:nvPr/>
        </p:nvSpPr>
        <p:spPr>
          <a:xfrm>
            <a:off x="9315450" y="3486150"/>
            <a:ext cx="74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33 點＋規則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2A39A6B7-8331-45F4-885D-B391DC63DF8D}"/>
              </a:ext>
            </a:extLst>
          </p:cNvPr>
          <p:cNvSpPr>
            <a:spLocks noGrp="1"/>
          </p:cNvSpPr>
          <p:nvPr/>
        </p:nvSpPr>
        <p:spPr>
          <a:xfrm>
            <a:off x="10296525" y="3486150"/>
            <a:ext cx="819150" cy="476250"/>
          </a:xfrm>
          <a:prstGeom prst="roundRect">
            <a:avLst>
              <a:gd name="adj" fmla="val 8000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9D4C39-3268-4833-A278-562FD55B4315}"/>
              </a:ext>
            </a:extLst>
          </p:cNvPr>
          <p:cNvSpPr>
            <a:spLocks noGrp="1"/>
          </p:cNvSpPr>
          <p:nvPr/>
        </p:nvSpPr>
        <p:spPr>
          <a:xfrm>
            <a:off x="10334625" y="3486150"/>
            <a:ext cx="742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即時回應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CF94BC-CF5A-4F69-BD6C-36568D7796AB}"/>
              </a:ext>
            </a:extLst>
          </p:cNvPr>
          <p:cNvSpPr>
            <a:spLocks noGrp="1"/>
          </p:cNvSpPr>
          <p:nvPr/>
        </p:nvSpPr>
        <p:spPr>
          <a:xfrm>
            <a:off x="7239000" y="42481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雛形驗證結果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FEACBE-CA10-4795-8FAB-68B42F2DB998}"/>
              </a:ext>
            </a:extLst>
          </p:cNvPr>
          <p:cNvSpPr>
            <a:spLocks noGrp="1"/>
          </p:cNvSpPr>
          <p:nvPr/>
        </p:nvSpPr>
        <p:spPr>
          <a:xfrm>
            <a:off x="7239000" y="4742393"/>
            <a:ext cx="85725" cy="85725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A365BF-FC5E-4074-AF38-01A0AC626ED4}"/>
              </a:ext>
            </a:extLst>
          </p:cNvPr>
          <p:cNvSpPr>
            <a:spLocks noGrp="1"/>
          </p:cNvSpPr>
          <p:nvPr/>
        </p:nvSpPr>
        <p:spPr>
          <a:xfrm>
            <a:off x="7429500" y="4591050"/>
            <a:ext cx="3981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正面／側面入口、10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秒校準與即時角度畫面已可操作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2EEF6324-3BD2-4C01-AF11-DF310ECD98D2}"/>
              </a:ext>
            </a:extLst>
          </p:cNvPr>
          <p:cNvSpPr>
            <a:spLocks noGrp="1"/>
          </p:cNvSpPr>
          <p:nvPr/>
        </p:nvSpPr>
        <p:spPr>
          <a:xfrm>
            <a:off x="7239000" y="5235576"/>
            <a:ext cx="85725" cy="85725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A117FBD-9B47-4960-92AC-8C9210DFB44B}"/>
              </a:ext>
            </a:extLst>
          </p:cNvPr>
          <p:cNvSpPr>
            <a:spLocks noGrp="1"/>
          </p:cNvSpPr>
          <p:nvPr/>
        </p:nvSpPr>
        <p:spPr>
          <a:xfrm>
            <a:off x="7429500" y="5067300"/>
            <a:ext cx="4152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共用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API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已涵蓋影像限制、視角驗證、工作階段與健康狀態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8175B533-7379-42E9-A67C-38177D1223DE}"/>
              </a:ext>
            </a:extLst>
          </p:cNvPr>
          <p:cNvSpPr>
            <a:spLocks noGrp="1"/>
          </p:cNvSpPr>
          <p:nvPr/>
        </p:nvSpPr>
        <p:spPr>
          <a:xfrm>
            <a:off x="7239000" y="5745694"/>
            <a:ext cx="85725" cy="85725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84D1F3-2A15-4EE9-9112-DD2655E4CB86}"/>
              </a:ext>
            </a:extLst>
          </p:cNvPr>
          <p:cNvSpPr>
            <a:spLocks noGrp="1"/>
          </p:cNvSpPr>
          <p:nvPr/>
        </p:nvSpPr>
        <p:spPr>
          <a:xfrm>
            <a:off x="7429500" y="5543550"/>
            <a:ext cx="3981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短暫動作不立即提醒；5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秒平滑後仍需有效偏移累積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8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99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1D51CA4-53FC-40E1-AEFA-58FA2C1A1E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02 · AZURE DATABASE FOR POSTGRESQL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11A5853-0654-45B1-BA6E-1B236A650CB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保存衍生指標，也能支援歷史與趨勢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196EC-EF07-4856-ABDE-FCAD15AF45F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資料最小化不是刪除功能，而是從資料模型一開始就不建立原始影像欄位。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5D19A2-1259-4F63-B911-14B7F98C334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E77C3C-6746-4B64-8864-F3BCF1C52B1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C634F6-289D-427E-BBA4-F70068D871B5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905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確認工作階段能建立、寫入、彙整、查詢與刪除，且只保存角度、時間、事件與分類回饋</a:t>
            </a:r>
            <a:r>
              <a:rPr sz="1275" b="0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5D4CF3-9FE4-4CA3-8098-F31B720D15EE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1A51161-750E-4575-B47F-9000569A2F79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323850" cy="323850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C4D004-A0D3-409B-BDA6-669D2B5072B4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A871E6-B282-4A5E-911E-4767E5A91721}"/>
              </a:ext>
            </a:extLst>
          </p:cNvPr>
          <p:cNvSpPr>
            <a:spLocks noGrp="1"/>
          </p:cNvSpPr>
          <p:nvPr/>
        </p:nvSpPr>
        <p:spPr>
          <a:xfrm>
            <a:off x="1066800" y="37242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建立工作階段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96067E-4AF0-40E1-8315-DEC3EE34CF91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9050" cy="17145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24918FE-4C71-429C-8D03-2141F8D52EF8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3850" cy="323850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D05804-F29F-4472-9F8F-845808B2F52F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14D447-1C36-475A-B894-3EC1B0B01C3F}"/>
              </a:ext>
            </a:extLst>
          </p:cNvPr>
          <p:cNvSpPr>
            <a:spLocks noGrp="1"/>
          </p:cNvSpPr>
          <p:nvPr/>
        </p:nvSpPr>
        <p:spPr>
          <a:xfrm>
            <a:off x="1066800" y="42195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寫入衍生 sample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DFD3F2-D28E-4503-969B-5F1E6AC22B38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19050" cy="17145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C64BBED0-2EA3-4BC5-901B-418DAC5A4976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23850" cy="323850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763BB5-8BE0-4EDB-BE32-27F3D39C49D4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D112FF-8FEF-47D9-8ABC-88CFA3317D10}"/>
              </a:ext>
            </a:extLst>
          </p:cNvPr>
          <p:cNvSpPr>
            <a:spLocks noGrp="1"/>
          </p:cNvSpPr>
          <p:nvPr/>
        </p:nvSpPr>
        <p:spPr>
          <a:xfrm>
            <a:off x="1066800" y="47148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完成彙整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F5475E-FAEC-4826-95D6-EA72A83D20C0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9050" cy="17145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128FC60A-E4AE-41C7-972E-F4634E40796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323850" cy="323850"/>
          </a:xfrm>
          <a:prstGeom prst="ellipse">
            <a:avLst/>
          </a:prstGeom>
          <a:solidFill>
            <a:srgbClr val="2D435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D1D5A9-1AD1-4422-A93A-6716E199E48C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9EF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FFF9E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B97F36-36BE-4734-9480-B1166DB15B0E}"/>
              </a:ext>
            </a:extLst>
          </p:cNvPr>
          <p:cNvSpPr>
            <a:spLocks noGrp="1"/>
          </p:cNvSpPr>
          <p:nvPr/>
        </p:nvSpPr>
        <p:spPr>
          <a:xfrm>
            <a:off x="1066800" y="52101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歷史／刪除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B53055AE-34CD-4188-9AFB-9FB9861CD771}"/>
              </a:ext>
            </a:extLst>
          </p:cNvPr>
          <p:cNvSpPr>
            <a:spLocks noGrp="1"/>
          </p:cNvSpPr>
          <p:nvPr/>
        </p:nvSpPr>
        <p:spPr>
          <a:xfrm>
            <a:off x="4905375" y="1971675"/>
            <a:ext cx="6572250" cy="3771900"/>
          </a:xfrm>
          <a:prstGeom prst="roundRect">
            <a:avLst>
              <a:gd name="adj" fmla="val 1515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63048" y="2019300"/>
            <a:ext cx="4256903" cy="3676650"/>
          </a:xfrm>
          <a:prstGeom prst="roundRect">
            <a:avLst>
              <a:gd name="adj" fmla="val 1554"/>
            </a:avLst>
          </a:prstGeom>
        </p:spPr>
      </p:pic>
      <p:sp>
        <p:nvSpPr>
          <p:cNvPr id="25" name="圓角矩形 24">
            <a:extLst>
              <a:ext uri="{FF2B5EF4-FFF2-40B4-BE49-F238E27FC236}">
                <a16:creationId xmlns:a16="http://schemas.microsoft.com/office/drawing/2014/main" id="{2B5B535D-E0AB-4AF3-8B8E-15AE678582EE}"/>
              </a:ext>
            </a:extLst>
          </p:cNvPr>
          <p:cNvSpPr>
            <a:spLocks noGrp="1"/>
          </p:cNvSpPr>
          <p:nvPr/>
        </p:nvSpPr>
        <p:spPr>
          <a:xfrm>
            <a:off x="5181600" y="2190750"/>
            <a:ext cx="1695450" cy="285750"/>
          </a:xfrm>
          <a:prstGeom prst="roundRect">
            <a:avLst>
              <a:gd name="adj" fmla="val 13333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E1E7BE-2E09-4EBD-B3A1-C38D55B8B360}"/>
              </a:ext>
            </a:extLst>
          </p:cNvPr>
          <p:cNvSpPr>
            <a:spLocks noGrp="1"/>
          </p:cNvSpPr>
          <p:nvPr/>
        </p:nvSpPr>
        <p:spPr>
          <a:xfrm>
            <a:off x="5181600" y="21907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雛形畫面｜展示資料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73518FE-6FE8-46EC-8975-97A4DFD64353}"/>
              </a:ext>
            </a:extLst>
          </p:cNvPr>
          <p:cNvSpPr>
            <a:spLocks noGrp="1"/>
          </p:cNvSpPr>
          <p:nvPr/>
        </p:nvSpPr>
        <p:spPr>
          <a:xfrm>
            <a:off x="4953000" y="5905500"/>
            <a:ext cx="6477000" cy="514350"/>
          </a:xfrm>
          <a:prstGeom prst="roundRect">
            <a:avLst>
              <a:gd name="adj" fmla="val 7407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7420A7-DAA0-46EA-A0A3-350DCF50E402}"/>
              </a:ext>
            </a:extLst>
          </p:cNvPr>
          <p:cNvSpPr>
            <a:spLocks noGrp="1"/>
          </p:cNvSpPr>
          <p:nvPr/>
        </p:nvSpPr>
        <p:spPr>
          <a:xfrm>
            <a:off x="5105400" y="5905500"/>
            <a:ext cx="617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D4355"/>
                </a:solidFill>
                <a:latin typeface="Arial Unicode MS"/>
                <a:ea typeface="Arial Unicode MS"/>
                <a:cs typeface="Arial Unicode MS"/>
              </a:rPr>
              <a:t>結果：完整資料生命週期可驗證；短於 10 分鐘的展示紀錄不會被硬算成長期改善。</a:t>
            </a:r>
          </a:p>
        </p:txBody>
      </p:sp>
    </p:spTree>
    <p:extLst>
      <p:ext uri="{BB962C8B-B14F-4D97-AF65-F5344CB8AC3E}">
        <p14:creationId xmlns:p14="http://schemas.microsoft.com/office/powerpoint/2010/main" val="156498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AEF62A47-8E77-437D-8CE7-E363CCC37B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03 · AZURE OPENAI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9A6D819-B1AF-459A-A3C9-00160D15C68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生成式 AI 只負責長期建議，不負責判斷姿勢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1B5878-5333-4B7B-B59E-041160E8B2D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輸入是去識別摘要；輸出必須通過三段式、繁體中文與非醫療檢查。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FB8424-0584-42B1-BF05-6F36E952FE5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B3AFFF-A22E-485D-80F6-14A987A29EC2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8ED196-F560-46E3-AA90-CFB0C7A8A687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905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把合格工作階段的去識別摘要，轉成短、可執行、可稽核的個人化建議。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675C61-7B50-4592-B0CA-D092730A39C5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58D2D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86364E7-D831-4217-9D64-BCCAA266CCFA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247650" cy="247650"/>
          </a:xfrm>
          <a:prstGeom prst="ellipse">
            <a:avLst/>
          </a:prstGeom>
          <a:solidFill>
            <a:srgbClr val="FFF9EE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E4F0C3-6EED-4E36-A8BA-0F94162450CA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E3ECCC-CD2F-4E60-98E1-F11807125750}"/>
              </a:ext>
            </a:extLst>
          </p:cNvPr>
          <p:cNvSpPr>
            <a:spLocks noGrp="1"/>
          </p:cNvSpPr>
          <p:nvPr/>
        </p:nvSpPr>
        <p:spPr>
          <a:xfrm>
            <a:off x="990600" y="35337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去識別摘要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1A7CEB-61B1-4D17-B49C-E9F90D1EC94E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9050" cy="19050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704B7784-E751-4CF6-A456-A022726683AF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47650" cy="247650"/>
          </a:xfrm>
          <a:prstGeom prst="ellipse">
            <a:avLst/>
          </a:prstGeom>
          <a:solidFill>
            <a:srgbClr val="FFF9EE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97E30D-72E9-4536-BE6B-B506C658CD1D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907E53-D091-4FF9-AE61-DC1CA17DBBB8}"/>
              </a:ext>
            </a:extLst>
          </p:cNvPr>
          <p:cNvSpPr>
            <a:spLocks noGrp="1"/>
          </p:cNvSpPr>
          <p:nvPr/>
        </p:nvSpPr>
        <p:spPr>
          <a:xfrm>
            <a:off x="990600" y="39719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Prompt 契約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A1D50C-63E3-4A66-BFA9-1B9E0E85817B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19050" cy="19050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E1A58C8A-BEC0-4911-A9FA-5CEA3C31E273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247650" cy="247650"/>
          </a:xfrm>
          <a:prstGeom prst="ellipse">
            <a:avLst/>
          </a:prstGeom>
          <a:solidFill>
            <a:srgbClr val="C58D2D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E44837-EB0D-4920-9A22-67973CBAC00B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25231E"/>
                </a:solidFill>
                <a:latin typeface="Menlo"/>
                <a:ea typeface="Menlo"/>
                <a:cs typeface="Menlo"/>
              </a:defRPr>
            </a:pPr>
            <a:r>
              <a:rPr sz="675" b="1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1DD3EA-D491-4930-B30B-6296CC56B2C9}"/>
              </a:ext>
            </a:extLst>
          </p:cNvPr>
          <p:cNvSpPr>
            <a:spLocks noGrp="1"/>
          </p:cNvSpPr>
          <p:nvPr/>
        </p:nvSpPr>
        <p:spPr>
          <a:xfrm>
            <a:off x="990600" y="44100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Azure OpenAI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FC0111-E3F0-4158-873B-23C0240C5915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9050" cy="19050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A73EE2D2-0229-4C1D-8294-94C4BA0B82CE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47650" cy="247650"/>
          </a:xfrm>
          <a:prstGeom prst="ellipse">
            <a:avLst/>
          </a:prstGeom>
          <a:solidFill>
            <a:srgbClr val="FFF9EE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294B31-7884-4A9A-BA1A-3E35A7900183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D8E334-6509-4532-BBA6-3E8E30F18D8A}"/>
              </a:ext>
            </a:extLst>
          </p:cNvPr>
          <p:cNvSpPr>
            <a:spLocks noGrp="1"/>
          </p:cNvSpPr>
          <p:nvPr/>
        </p:nvSpPr>
        <p:spPr>
          <a:xfrm>
            <a:off x="990600" y="48482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格式／醫療檢查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EB30B6-7210-450D-8314-8C9C45887162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" cy="190500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BA2A993-A853-4708-B9D4-45719919C16F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247650" cy="247650"/>
          </a:xfrm>
          <a:prstGeom prst="ellipse">
            <a:avLst/>
          </a:prstGeom>
          <a:solidFill>
            <a:srgbClr val="FFF9EE"/>
          </a:solidFill>
          <a:ln w="9525">
            <a:solidFill>
              <a:srgbClr val="C58D2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18E8E9-3165-4EF0-AF88-2614F4063E4B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C58D2D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58D2D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A98D44-DD38-4917-B1D2-566219AB4250}"/>
              </a:ext>
            </a:extLst>
          </p:cNvPr>
          <p:cNvSpPr>
            <a:spLocks noGrp="1"/>
          </p:cNvSpPr>
          <p:nvPr/>
        </p:nvSpPr>
        <p:spPr>
          <a:xfrm>
            <a:off x="990600" y="52863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顯示或安全降級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7A14A46A-C819-4CF0-BEFA-43D900AC5BA6}"/>
              </a:ext>
            </a:extLst>
          </p:cNvPr>
          <p:cNvSpPr>
            <a:spLocks noGrp="1"/>
          </p:cNvSpPr>
          <p:nvPr/>
        </p:nvSpPr>
        <p:spPr>
          <a:xfrm>
            <a:off x="4905375" y="1971675"/>
            <a:ext cx="6572250" cy="2476500"/>
          </a:xfrm>
          <a:prstGeom prst="roundRect">
            <a:avLst>
              <a:gd name="adj" fmla="val 2308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60" name="圖片 59"/>
          <p:cNvPicPr>
            <a:picLocks noChangeAspect="1"/>
          </p:cNvPicPr>
          <p:nvPr/>
        </p:nvPicPr>
        <p:blipFill>
          <a:blip r:embed="rId3"/>
          <a:srcRect l="73" r="73"/>
          <a:stretch>
            <a:fillRect/>
          </a:stretch>
        </p:blipFill>
        <p:spPr>
          <a:xfrm>
            <a:off x="4953000" y="2019300"/>
            <a:ext cx="6477000" cy="2381250"/>
          </a:xfrm>
          <a:prstGeom prst="roundRect">
            <a:avLst>
              <a:gd name="adj" fmla="val 2400"/>
            </a:avLst>
          </a:prstGeom>
        </p:spPr>
      </p:pic>
      <p:sp>
        <p:nvSpPr>
          <p:cNvPr id="29" name="圓角矩形 28">
            <a:extLst>
              <a:ext uri="{FF2B5EF4-FFF2-40B4-BE49-F238E27FC236}">
                <a16:creationId xmlns:a16="http://schemas.microsoft.com/office/drawing/2014/main" id="{AA19E76D-4324-4FF0-8177-C7BE21A58142}"/>
              </a:ext>
            </a:extLst>
          </p:cNvPr>
          <p:cNvSpPr>
            <a:spLocks noGrp="1"/>
          </p:cNvSpPr>
          <p:nvPr/>
        </p:nvSpPr>
        <p:spPr>
          <a:xfrm>
            <a:off x="4905375" y="4638674"/>
            <a:ext cx="6572250" cy="1781175"/>
          </a:xfrm>
          <a:prstGeom prst="roundRect">
            <a:avLst>
              <a:gd name="adj" fmla="val 3659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62" name="圖片 61"/>
          <p:cNvPicPr>
            <a:picLocks noChangeAspect="1"/>
          </p:cNvPicPr>
          <p:nvPr/>
        </p:nvPicPr>
        <p:blipFill>
          <a:blip r:embed="rId4"/>
          <a:srcRect t="10693" b="10693"/>
          <a:stretch>
            <a:fillRect/>
          </a:stretch>
        </p:blipFill>
        <p:spPr>
          <a:xfrm>
            <a:off x="4953000" y="4686300"/>
            <a:ext cx="6477000" cy="1663700"/>
          </a:xfrm>
          <a:prstGeom prst="roundRect">
            <a:avLst>
              <a:gd name="adj" fmla="val 3896"/>
            </a:avLst>
          </a:prstGeom>
        </p:spPr>
      </p:pic>
      <p:sp>
        <p:nvSpPr>
          <p:cNvPr id="31" name="圓角矩形 30">
            <a:extLst>
              <a:ext uri="{FF2B5EF4-FFF2-40B4-BE49-F238E27FC236}">
                <a16:creationId xmlns:a16="http://schemas.microsoft.com/office/drawing/2014/main" id="{8B841FA7-1F70-4FF7-AB9A-532F34E1E2FE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3905250" cy="514350"/>
          </a:xfrm>
          <a:prstGeom prst="roundRect">
            <a:avLst>
              <a:gd name="adj" fmla="val 7407"/>
            </a:avLst>
          </a:prstGeom>
          <a:solidFill>
            <a:srgbClr val="F5E6BD"/>
          </a:solidFill>
          <a:ln w="9525">
            <a:solidFill>
              <a:srgbClr val="77332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89435E-40C6-4C65-82FE-F1B386CB9E6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600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結果：資料不足或服務異常時改用安全建議；核心偵測持續運作。</a:t>
            </a:r>
          </a:p>
        </p:txBody>
      </p:sp>
    </p:spTree>
    <p:extLst>
      <p:ext uri="{BB962C8B-B14F-4D97-AF65-F5344CB8AC3E}">
        <p14:creationId xmlns:p14="http://schemas.microsoft.com/office/powerpoint/2010/main" val="191661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27DEED9-2423-4308-8D29-D5563D01555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END-TO-END VALIDATION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FEA587A-A45F-45AF-B92F-2A13E10E66F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一條流程已串起輸入、即時解釋、摘要與後續教練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9B9FB0-90EB-494E-AF2D-61EF0DFFE0D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四個畫面來自同一個雛形流程，展示值只用來驗證操作，不代表使用者研究成果。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80629C-B6B6-431C-8F91-397EB3F5992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向右箭號 4">
            <a:extLst>
              <a:ext uri="{FF2B5EF4-FFF2-40B4-BE49-F238E27FC236}">
                <a16:creationId xmlns:a16="http://schemas.microsoft.com/office/drawing/2014/main" id="{F12AE387-1143-49BA-B741-0E2F72ABFD4D}"/>
              </a:ext>
            </a:extLst>
          </p:cNvPr>
          <p:cNvSpPr>
            <a:spLocks noGrp="1"/>
          </p:cNvSpPr>
          <p:nvPr/>
        </p:nvSpPr>
        <p:spPr>
          <a:xfrm>
            <a:off x="2971800" y="3067050"/>
            <a:ext cx="285750" cy="17145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90EBFC9C-D621-4DF2-9AFD-324F51FBB443}"/>
              </a:ext>
            </a:extLst>
          </p:cNvPr>
          <p:cNvSpPr>
            <a:spLocks noGrp="1"/>
          </p:cNvSpPr>
          <p:nvPr/>
        </p:nvSpPr>
        <p:spPr>
          <a:xfrm>
            <a:off x="5695950" y="3067050"/>
            <a:ext cx="285750" cy="17145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F9CAFE8A-054E-4CDF-8E9E-1716D2BAF256}"/>
              </a:ext>
            </a:extLst>
          </p:cNvPr>
          <p:cNvSpPr>
            <a:spLocks noGrp="1"/>
          </p:cNvSpPr>
          <p:nvPr/>
        </p:nvSpPr>
        <p:spPr>
          <a:xfrm>
            <a:off x="8420100" y="3067050"/>
            <a:ext cx="285750" cy="171450"/>
          </a:xfrm>
          <a:prstGeom prst="rightArrow">
            <a:avLst/>
          </a:prstGeom>
          <a:solidFill>
            <a:srgbClr val="D8CDBD"/>
          </a:solidFill>
          <a:ln w="0">
            <a:solidFill>
              <a:srgbClr val="D8CDBD"/>
            </a:solidFill>
            <a:prstDash val="solid"/>
          </a:ln>
        </p:spPr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718ABEC-5FFD-46FA-8F85-17E1B6790C33}"/>
              </a:ext>
            </a:extLst>
          </p:cNvPr>
          <p:cNvSpPr>
            <a:spLocks noGrp="1"/>
          </p:cNvSpPr>
          <p:nvPr/>
        </p:nvSpPr>
        <p:spPr>
          <a:xfrm>
            <a:off x="561975" y="2028825"/>
            <a:ext cx="2476500" cy="1695450"/>
          </a:xfrm>
          <a:prstGeom prst="roundRect">
            <a:avLst>
              <a:gd name="adj" fmla="val 3371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2" name="圖片 41"/>
          <p:cNvPicPr>
            <a:picLocks noChangeAspect="1"/>
          </p:cNvPicPr>
          <p:nvPr/>
        </p:nvPicPr>
        <p:blipFill>
          <a:blip r:embed="rId3"/>
          <a:srcRect l="3497" r="3497"/>
          <a:stretch>
            <a:fillRect/>
          </a:stretch>
        </p:blipFill>
        <p:spPr>
          <a:xfrm>
            <a:off x="609600" y="2076450"/>
            <a:ext cx="2381250" cy="1600200"/>
          </a:xfrm>
          <a:prstGeom prst="roundRect">
            <a:avLst>
              <a:gd name="adj" fmla="val 3571"/>
            </a:avLst>
          </a:prstGeom>
        </p:spPr>
      </p:pic>
      <p:sp>
        <p:nvSpPr>
          <p:cNvPr id="10" name="圓角矩形 9">
            <a:extLst>
              <a:ext uri="{FF2B5EF4-FFF2-40B4-BE49-F238E27FC236}">
                <a16:creationId xmlns:a16="http://schemas.microsoft.com/office/drawing/2014/main" id="{DCC5AF17-5217-4646-A448-6DAE21A0F2F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381250" cy="1600200"/>
          </a:xfrm>
          <a:prstGeom prst="roundRect">
            <a:avLst>
              <a:gd name="adj" fmla="val 2381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2F604B-53DE-45C7-BF4D-A49A1F5A77F5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 dirty="0">
                <a:solidFill>
                  <a:srgbClr val="A9473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77908B-9629-4F91-86DC-E7C87CE5E0A5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輸入與校準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FDBC51-8F2D-4EC4-9194-4027BB73555B}"/>
              </a:ext>
            </a:extLst>
          </p:cNvPr>
          <p:cNvSpPr>
            <a:spLocks noGrp="1"/>
          </p:cNvSpPr>
          <p:nvPr/>
        </p:nvSpPr>
        <p:spPr>
          <a:xfrm>
            <a:off x="762000" y="481965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altLang="en-US"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第一步選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視角，建立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10 </a:t>
            </a: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秒個人基線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EEE7AAA7-750A-4E23-B2A1-97C93C1E5214}"/>
              </a:ext>
            </a:extLst>
          </p:cNvPr>
          <p:cNvSpPr>
            <a:spLocks noGrp="1"/>
          </p:cNvSpPr>
          <p:nvPr/>
        </p:nvSpPr>
        <p:spPr>
          <a:xfrm>
            <a:off x="3286125" y="2028825"/>
            <a:ext cx="2476500" cy="1695450"/>
          </a:xfrm>
          <a:prstGeom prst="roundRect">
            <a:avLst>
              <a:gd name="adj" fmla="val 3371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4"/>
          <a:srcRect l="3497" r="3497"/>
          <a:stretch>
            <a:fillRect/>
          </a:stretch>
        </p:blipFill>
        <p:spPr>
          <a:xfrm>
            <a:off x="3333750" y="2076450"/>
            <a:ext cx="2381250" cy="1600200"/>
          </a:xfrm>
          <a:prstGeom prst="roundRect">
            <a:avLst>
              <a:gd name="adj" fmla="val 3571"/>
            </a:avLst>
          </a:prstGeom>
        </p:spPr>
      </p:pic>
      <p:sp>
        <p:nvSpPr>
          <p:cNvPr id="16" name="圓角矩形 15">
            <a:extLst>
              <a:ext uri="{FF2B5EF4-FFF2-40B4-BE49-F238E27FC236}">
                <a16:creationId xmlns:a16="http://schemas.microsoft.com/office/drawing/2014/main" id="{8A469118-A44D-4C5A-AADD-4374E6A33281}"/>
              </a:ext>
            </a:extLst>
          </p:cNvPr>
          <p:cNvSpPr>
            <a:spLocks noGrp="1"/>
          </p:cNvSpPr>
          <p:nvPr/>
        </p:nvSpPr>
        <p:spPr>
          <a:xfrm>
            <a:off x="3333750" y="3905250"/>
            <a:ext cx="2381250" cy="1600200"/>
          </a:xfrm>
          <a:prstGeom prst="roundRect">
            <a:avLst>
              <a:gd name="adj" fmla="val 2381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CB94F8-3A5B-480D-A807-E473D38810FB}"/>
              </a:ext>
            </a:extLst>
          </p:cNvPr>
          <p:cNvSpPr>
            <a:spLocks noGrp="1"/>
          </p:cNvSpPr>
          <p:nvPr/>
        </p:nvSpPr>
        <p:spPr>
          <a:xfrm>
            <a:off x="3486150" y="40576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 dirty="0">
                <a:solidFill>
                  <a:srgbClr val="A9473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5DBB2F-EA1A-44C1-9521-3BEC997203F1}"/>
              </a:ext>
            </a:extLst>
          </p:cNvPr>
          <p:cNvSpPr>
            <a:spLocks noGrp="1"/>
          </p:cNvSpPr>
          <p:nvPr/>
        </p:nvSpPr>
        <p:spPr>
          <a:xfrm>
            <a:off x="3486150" y="4400550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節點與規則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699D2B-BC0E-4832-AF55-6923B4A0DEE5}"/>
              </a:ext>
            </a:extLst>
          </p:cNvPr>
          <p:cNvSpPr>
            <a:spLocks noGrp="1"/>
          </p:cNvSpPr>
          <p:nvPr/>
        </p:nvSpPr>
        <p:spPr>
          <a:xfrm>
            <a:off x="3486150" y="481965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檢查必要節點，再計算視角專屬角度。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996C01F3-563C-47E3-85AB-3EF09AE25725}"/>
              </a:ext>
            </a:extLst>
          </p:cNvPr>
          <p:cNvSpPr>
            <a:spLocks noGrp="1"/>
          </p:cNvSpPr>
          <p:nvPr/>
        </p:nvSpPr>
        <p:spPr>
          <a:xfrm>
            <a:off x="6010275" y="2028825"/>
            <a:ext cx="2476500" cy="1695450"/>
          </a:xfrm>
          <a:prstGeom prst="roundRect">
            <a:avLst>
              <a:gd name="adj" fmla="val 3371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4" name="圖片 53"/>
          <p:cNvPicPr>
            <a:picLocks noChangeAspect="1"/>
          </p:cNvPicPr>
          <p:nvPr/>
        </p:nvPicPr>
        <p:blipFill>
          <a:blip r:embed="rId5"/>
          <a:srcRect l="3497" r="3497"/>
          <a:stretch>
            <a:fillRect/>
          </a:stretch>
        </p:blipFill>
        <p:spPr>
          <a:xfrm>
            <a:off x="6057900" y="2076450"/>
            <a:ext cx="2381250" cy="1600200"/>
          </a:xfrm>
          <a:prstGeom prst="roundRect">
            <a:avLst>
              <a:gd name="adj" fmla="val 3571"/>
            </a:avLst>
          </a:prstGeom>
        </p:spPr>
      </p:pic>
      <p:sp>
        <p:nvSpPr>
          <p:cNvPr id="22" name="圓角矩形 21">
            <a:extLst>
              <a:ext uri="{FF2B5EF4-FFF2-40B4-BE49-F238E27FC236}">
                <a16:creationId xmlns:a16="http://schemas.microsoft.com/office/drawing/2014/main" id="{4C6EE50B-D5AF-447B-9D3D-CB19AC77981B}"/>
              </a:ext>
            </a:extLst>
          </p:cNvPr>
          <p:cNvSpPr>
            <a:spLocks noGrp="1"/>
          </p:cNvSpPr>
          <p:nvPr/>
        </p:nvSpPr>
        <p:spPr>
          <a:xfrm>
            <a:off x="6057900" y="3905250"/>
            <a:ext cx="2381250" cy="1600200"/>
          </a:xfrm>
          <a:prstGeom prst="roundRect">
            <a:avLst>
              <a:gd name="adj" fmla="val 2381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6E4716-0E32-42A1-BA51-53553C841E0C}"/>
              </a:ext>
            </a:extLst>
          </p:cNvPr>
          <p:cNvSpPr>
            <a:spLocks noGrp="1"/>
          </p:cNvSpPr>
          <p:nvPr/>
        </p:nvSpPr>
        <p:spPr>
          <a:xfrm>
            <a:off x="6210300" y="40576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 dirty="0">
                <a:solidFill>
                  <a:srgbClr val="A9473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058CF1-BA25-4E23-8399-8B9DF51C4709}"/>
              </a:ext>
            </a:extLst>
          </p:cNvPr>
          <p:cNvSpPr>
            <a:spLocks noGrp="1"/>
          </p:cNvSpPr>
          <p:nvPr/>
        </p:nvSpPr>
        <p:spPr>
          <a:xfrm>
            <a:off x="6210300" y="4400550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結果與摘要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2362AD-0511-4AD8-8F33-928CFF5C4927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彙整有效時間、事件與可執行建議。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2CD1435D-EB27-4087-8AC3-7658FBEFC3A5}"/>
              </a:ext>
            </a:extLst>
          </p:cNvPr>
          <p:cNvSpPr>
            <a:spLocks noGrp="1"/>
          </p:cNvSpPr>
          <p:nvPr/>
        </p:nvSpPr>
        <p:spPr>
          <a:xfrm>
            <a:off x="8734425" y="2028825"/>
            <a:ext cx="2476500" cy="1695450"/>
          </a:xfrm>
          <a:prstGeom prst="roundRect">
            <a:avLst>
              <a:gd name="adj" fmla="val 3371"/>
            </a:avLst>
          </a:prstGeom>
          <a:solidFill>
            <a:srgbClr val="FFF9EF"/>
          </a:solidFill>
          <a:ln w="9525">
            <a:solidFill>
              <a:srgbClr val="CFC4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0" name="圖片 59"/>
          <p:cNvPicPr>
            <a:picLocks noChangeAspect="1"/>
          </p:cNvPicPr>
          <p:nvPr/>
        </p:nvPicPr>
        <p:blipFill>
          <a:blip r:embed="rId6"/>
          <a:srcRect l="3497" r="3497"/>
          <a:stretch>
            <a:fillRect/>
          </a:stretch>
        </p:blipFill>
        <p:spPr>
          <a:xfrm>
            <a:off x="8782050" y="2076450"/>
            <a:ext cx="2381250" cy="1600200"/>
          </a:xfrm>
          <a:prstGeom prst="roundRect">
            <a:avLst>
              <a:gd name="adj" fmla="val 3571"/>
            </a:avLst>
          </a:prstGeom>
        </p:spPr>
      </p:pic>
      <p:sp>
        <p:nvSpPr>
          <p:cNvPr id="28" name="圓角矩形 27">
            <a:extLst>
              <a:ext uri="{FF2B5EF4-FFF2-40B4-BE49-F238E27FC236}">
                <a16:creationId xmlns:a16="http://schemas.microsoft.com/office/drawing/2014/main" id="{2F96C808-84CB-444D-8A76-72F0596461C6}"/>
              </a:ext>
            </a:extLst>
          </p:cNvPr>
          <p:cNvSpPr>
            <a:spLocks noGrp="1"/>
          </p:cNvSpPr>
          <p:nvPr/>
        </p:nvSpPr>
        <p:spPr>
          <a:xfrm>
            <a:off x="8782050" y="3905250"/>
            <a:ext cx="2381250" cy="1600200"/>
          </a:xfrm>
          <a:prstGeom prst="roundRect">
            <a:avLst>
              <a:gd name="adj" fmla="val 2381"/>
            </a:avLst>
          </a:prstGeom>
          <a:solidFill>
            <a:srgbClr val="FFF9EE"/>
          </a:solidFill>
          <a:ln w="9525">
            <a:solidFill>
              <a:srgbClr val="CFC4B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22C883-9B40-4521-9571-EEE4F314A42B}"/>
              </a:ext>
            </a:extLst>
          </p:cNvPr>
          <p:cNvSpPr>
            <a:spLocks noGrp="1"/>
          </p:cNvSpPr>
          <p:nvPr/>
        </p:nvSpPr>
        <p:spPr>
          <a:xfrm>
            <a:off x="8934450" y="40576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1125" b="1" dirty="0">
                <a:solidFill>
                  <a:srgbClr val="A9473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7608F3-C3A8-484D-B5EB-FD08EEA5D986}"/>
              </a:ext>
            </a:extLst>
          </p:cNvPr>
          <p:cNvSpPr>
            <a:spLocks noGrp="1"/>
          </p:cNvSpPr>
          <p:nvPr/>
        </p:nvSpPr>
        <p:spPr>
          <a:xfrm>
            <a:off x="8934450" y="4400550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保存與後續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737CC5-0A14-4DD2-8785-DA5BB10C4148}"/>
              </a:ext>
            </a:extLst>
          </p:cNvPr>
          <p:cNvSpPr>
            <a:spLocks noGrp="1"/>
          </p:cNvSpPr>
          <p:nvPr/>
        </p:nvSpPr>
        <p:spPr>
          <a:xfrm>
            <a:off x="8934450" y="481965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讀回歷史；合格資料才進入趨勢比較。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1CA75A44-FB7D-4B83-A5C3-5FEBE5B21249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896600" cy="514350"/>
          </a:xfrm>
          <a:prstGeom prst="roundRect">
            <a:avLst>
              <a:gd name="adj" fmla="val 7407"/>
            </a:avLst>
          </a:prstGeom>
          <a:solidFill>
            <a:srgbClr val="F1D6C8"/>
          </a:solidFill>
          <a:ln w="9525">
            <a:solidFill>
              <a:srgbClr val="773324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39845F-E259-4BC1-BF77-0E8745D15299}"/>
              </a:ext>
            </a:extLst>
          </p:cNvPr>
          <p:cNvSpPr>
            <a:spLocks noGrp="1"/>
          </p:cNvSpPr>
          <p:nvPr/>
        </p:nvSpPr>
        <p:spPr>
          <a:xfrm>
            <a:off x="762000" y="5848350"/>
            <a:ext cx="1059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整合結果：Web／App</a:t>
            </a:r>
            <a:r>
              <a:rPr sz="1200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共用</a:t>
            </a:r>
            <a:r>
              <a:rPr sz="1200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API，衍生資料可追溯，AI</a:t>
            </a:r>
            <a:r>
              <a:rPr sz="1200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200" b="1" dirty="0" err="1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建議有明確輸入邊界與失敗備援</a:t>
            </a:r>
            <a:r>
              <a:rPr sz="1200" b="1" dirty="0">
                <a:solidFill>
                  <a:srgbClr val="773324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1012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FE6DFCA-096A-4618-A298-5D23B5FCD3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4730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94730"/>
                </a:solidFill>
                <a:latin typeface="Menlo"/>
                <a:ea typeface="Menlo"/>
                <a:cs typeface="Menlo"/>
              </a:rPr>
              <a:t>REFLECTION &amp; CONCLUSION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C912877-AD21-489D-8CB2-7E2B673108E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整體心得／結論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612439-2C87-4B45-84DF-728E25E8579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真正有價值的雲端分工，是讓每一層只做自己能被驗證的事情。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8B0365-0A0C-4BEC-81D5-9284B516719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9525"/>
          </a:xfrm>
          <a:prstGeom prst="rect">
            <a:avLst/>
          </a:prstGeom>
          <a:solidFill>
            <a:srgbClr val="CFC4B4"/>
          </a:solidFill>
          <a:ln w="0">
            <a:solidFill>
              <a:srgbClr val="CFC4B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1C40D3-3444-4905-A498-9687FF205D5A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TW" altLang="en-US" sz="2700" b="1" dirty="0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雲端不是裝飾，而是把「即時判定」與「長期改善」安全接在一起。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53DAC7-7C5F-48BD-90F6-02E2745CFA6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524000" cy="57150"/>
          </a:xfrm>
          <a:prstGeom prst="rect">
            <a:avLst/>
          </a:prstGeom>
          <a:solidFill>
            <a:srgbClr val="A94730"/>
          </a:solidFill>
          <a:ln w="0">
            <a:solidFill>
              <a:srgbClr val="A9473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B34A61-2233-4386-A335-00C357ADB13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219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425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最重要的設計選擇：生成式</a:t>
            </a:r>
            <a:r>
              <a:rPr sz="1425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425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只讀摘要、只給建議；即使</a:t>
            </a:r>
            <a:r>
              <a:rPr sz="1425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425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不可用，姿勢覺察仍能繼續</a:t>
            </a:r>
            <a:r>
              <a:rPr sz="1425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ECDA9602-8597-41DB-8D66-6296049AB3D2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857750" cy="1066800"/>
          </a:xfrm>
          <a:prstGeom prst="roundRect">
            <a:avLst>
              <a:gd name="adj" fmla="val 5357"/>
            </a:avLst>
          </a:prstGeom>
          <a:solidFill>
            <a:srgbClr val="F1D6C8"/>
          </a:solidFill>
          <a:ln w="9525">
            <a:solidFill>
              <a:srgbClr val="7733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238E23-D7AC-4790-A21A-7758D6E8ED6F}"/>
              </a:ext>
            </a:extLst>
          </p:cNvPr>
          <p:cNvSpPr>
            <a:spLocks noGrp="1"/>
          </p:cNvSpPr>
          <p:nvPr/>
        </p:nvSpPr>
        <p:spPr>
          <a:xfrm>
            <a:off x="6800850" y="2209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28468F-5A88-49ED-9F1E-7AE443D21B2A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 dirty="0" err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可解釋</a:t>
            </a:r>
            <a:endParaRPr sz="1800" b="1" dirty="0">
              <a:solidFill>
                <a:srgbClr val="25231E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36A21D-A51E-4B07-8586-30A101AFF198}"/>
              </a:ext>
            </a:extLst>
          </p:cNvPr>
          <p:cNvSpPr>
            <a:spLocks noGrp="1"/>
          </p:cNvSpPr>
          <p:nvPr/>
        </p:nvSpPr>
        <p:spPr>
          <a:xfrm>
            <a:off x="7429500" y="2562225"/>
            <a:ext cx="3657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dirty="0" err="1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MediaPipe、個人基線與時間窗決定姿勢；每次提醒都有角度與門檻</a:t>
            </a:r>
            <a:r>
              <a:rPr sz="1200" b="0" dirty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FC091F9-6E03-4EF7-82EF-5A5A9503BA12}"/>
              </a:ext>
            </a:extLst>
          </p:cNvPr>
          <p:cNvSpPr>
            <a:spLocks noGrp="1"/>
          </p:cNvSpPr>
          <p:nvPr/>
        </p:nvSpPr>
        <p:spPr>
          <a:xfrm>
            <a:off x="6572250" y="3371850"/>
            <a:ext cx="4857750" cy="1066800"/>
          </a:xfrm>
          <a:prstGeom prst="roundRect">
            <a:avLst>
              <a:gd name="adj" fmla="val 5357"/>
            </a:avLst>
          </a:prstGeom>
          <a:solidFill>
            <a:srgbClr val="DCE3E5"/>
          </a:solidFill>
          <a:ln w="9525">
            <a:solidFill>
              <a:srgbClr val="2D43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DEC569-B4E0-4FC1-B62C-054B7401986E}"/>
              </a:ext>
            </a:extLst>
          </p:cNvPr>
          <p:cNvSpPr>
            <a:spLocks noGrp="1"/>
          </p:cNvSpPr>
          <p:nvPr/>
        </p:nvSpPr>
        <p:spPr>
          <a:xfrm>
            <a:off x="6800850" y="35433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2D435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2D435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1FDFEC-87B1-47D0-81B0-4985E84CB429}"/>
              </a:ext>
            </a:extLst>
          </p:cNvPr>
          <p:cNvSpPr>
            <a:spLocks noGrp="1"/>
          </p:cNvSpPr>
          <p:nvPr/>
        </p:nvSpPr>
        <p:spPr>
          <a:xfrm>
            <a:off x="7429500" y="3524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可共用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EBFEFD-DF0D-4B0E-AACF-FCE94ED9CE5F}"/>
              </a:ext>
            </a:extLst>
          </p:cNvPr>
          <p:cNvSpPr>
            <a:spLocks noGrp="1"/>
          </p:cNvSpPr>
          <p:nvPr/>
        </p:nvSpPr>
        <p:spPr>
          <a:xfrm>
            <a:off x="7429500" y="3895725"/>
            <a:ext cx="3657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Web 與 App 共用同一套 FastAPI、資料契約與 AI 邊界，降低維護成本。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C00CB300-277A-4CE2-97A8-EFFABEC6DCAE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857750" cy="1066800"/>
          </a:xfrm>
          <a:prstGeom prst="roundRect">
            <a:avLst>
              <a:gd name="adj" fmla="val 5357"/>
            </a:avLst>
          </a:prstGeom>
          <a:solidFill>
            <a:srgbClr val="F5E6BD"/>
          </a:solidFill>
          <a:ln w="9525">
            <a:solidFill>
              <a:srgbClr val="7733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9EEF7E-E0ED-43D4-B970-B05A2B237935}"/>
              </a:ext>
            </a:extLst>
          </p:cNvPr>
          <p:cNvSpPr>
            <a:spLocks noGrp="1"/>
          </p:cNvSpPr>
          <p:nvPr/>
        </p:nvSpPr>
        <p:spPr>
          <a:xfrm>
            <a:off x="6800850" y="4876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773324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77332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BF4DBF1-E6F1-477A-BAB9-F5C4AAD07E29}"/>
              </a:ext>
            </a:extLst>
          </p:cNvPr>
          <p:cNvSpPr>
            <a:spLocks noGrp="1"/>
          </p:cNvSpPr>
          <p:nvPr/>
        </p:nvSpPr>
        <p:spPr>
          <a:xfrm>
            <a:off x="742950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5231E"/>
                </a:solidFill>
                <a:latin typeface="Arial Unicode MS"/>
                <a:ea typeface="Arial Unicode MS"/>
                <a:cs typeface="Arial Unicode MS"/>
              </a:rPr>
              <a:t>可持續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68F4F7-6481-404F-A5ED-5AA5663944AB}"/>
              </a:ext>
            </a:extLst>
          </p:cNvPr>
          <p:cNvSpPr>
            <a:spLocks noGrp="1"/>
          </p:cNvSpPr>
          <p:nvPr/>
        </p:nvSpPr>
        <p:spPr>
          <a:xfrm>
            <a:off x="7429500" y="5229225"/>
            <a:ext cx="3657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B665D"/>
                </a:solidFill>
                <a:latin typeface="Arial Unicode MS"/>
                <a:ea typeface="Arial Unicode MS"/>
                <a:cs typeface="Arial Unicode MS"/>
              </a:rPr>
              <a:t>只保存衍生指標；合格資料才進入趨勢，讓後續建議建立在可稽核證據上。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529D45E2-F589-4E22-BF54-F2753F5ACCA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820400" cy="514350"/>
          </a:xfrm>
          <a:prstGeom prst="roundRect">
            <a:avLst>
              <a:gd name="adj" fmla="val 7407"/>
            </a:avLst>
          </a:prstGeom>
          <a:solidFill>
            <a:srgbClr val="20272A"/>
          </a:solidFill>
          <a:ln w="9525">
            <a:solidFill>
              <a:srgbClr val="F5E6B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06C0DA-DD80-4CC1-B99C-931C59D064AE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51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5E6BD"/>
                </a:solidFill>
                <a:latin typeface="Arial Unicode MS"/>
                <a:ea typeface="Arial Unicode MS"/>
                <a:cs typeface="Arial Unicode MS"/>
              </a:rPr>
              <a:t>Azure 架構結論：App Service 承接互動，PostgreSQL 保留長期證據，Azure OpenAI 產生下一步。</a:t>
            </a:r>
          </a:p>
        </p:txBody>
      </p:sp>
    </p:spTree>
    <p:extLst>
      <p:ext uri="{BB962C8B-B14F-4D97-AF65-F5344CB8AC3E}">
        <p14:creationId xmlns:p14="http://schemas.microsoft.com/office/powerpoint/2010/main" val="8531242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462</Words>
  <Application>Microsoft Macintosh PowerPoint</Application>
  <DocSecurity>0</DocSecurity>
  <PresentationFormat>寬螢幕</PresentationFormat>
  <Paragraphs>129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 Unicode MS</vt:lpstr>
      <vt:lpstr>Calibri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旻憲 李</cp:lastModifiedBy>
  <cp:revision>4</cp:revision>
  <dcterms:created xsi:type="dcterms:W3CDTF">2026-07-16T07:17:37Z</dcterms:created>
  <dcterms:modified xsi:type="dcterms:W3CDTF">2026-07-16T10:35:32Z</dcterms:modified>
</cp:coreProperties>
</file>