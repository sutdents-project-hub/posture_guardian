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65597d5bc748b5" /><Relationship Type="http://schemas.openxmlformats.org/officeDocument/2006/relationships/extended-properties" Target="/docProps/app.xml" Id="Rc2c9ba6aa8d14352" /><Relationship Type="http://schemas.openxmlformats.org/officeDocument/2006/relationships/officeDocument" Target="/ppt/presentation.xml" Id="R39ace5150a2c4b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c0e2cdeb8d4582"/>
  </p:sldMasterIdLst>
  <p:notesMasterIdLst>
    <p:notesMasterId xmlns:r="http://schemas.openxmlformats.org/officeDocument/2006/relationships" r:id="R005c602dfcaa4ac6"/>
  </p:notesMasterIdLst>
  <p:sldIdLst>
    <p:sldId xmlns:r="http://schemas.openxmlformats.org/officeDocument/2006/relationships" id="256" r:id="R1a5e8855c8e44d3c"/>
    <p:sldId xmlns:r="http://schemas.openxmlformats.org/officeDocument/2006/relationships" id="257" r:id="Rfd57d67308b54a93"/>
    <p:sldId xmlns:r="http://schemas.openxmlformats.org/officeDocument/2006/relationships" id="258" r:id="Rbf4e5e058a5c437f"/>
    <p:sldId xmlns:r="http://schemas.openxmlformats.org/officeDocument/2006/relationships" id="259" r:id="R32909ef9e4a045f1"/>
    <p:sldId xmlns:r="http://schemas.openxmlformats.org/officeDocument/2006/relationships" id="260" r:id="R8aecaf04d8fc4373"/>
    <p:sldId xmlns:r="http://schemas.openxmlformats.org/officeDocument/2006/relationships" id="261" r:id="R09669a8a68514798"/>
    <p:sldId xmlns:r="http://schemas.openxmlformats.org/officeDocument/2006/relationships" id="262" r:id="R6fdccb64c96c4d95"/>
    <p:sldId xmlns:r="http://schemas.openxmlformats.org/officeDocument/2006/relationships" id="263" r:id="R91e37336f17448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97637960934b9c" /><Relationship Type="http://schemas.openxmlformats.org/officeDocument/2006/relationships/slideMaster" Target="/ppt/slideMasters/slideMaster1.xml" Id="R7cc0e2cdeb8d4582" /><Relationship Type="http://schemas.openxmlformats.org/officeDocument/2006/relationships/notesMaster" Target="/ppt/notesMasters/notesMaster1.xml" Id="R005c602dfcaa4ac6" /><Relationship Type="http://schemas.openxmlformats.org/officeDocument/2006/relationships/presProps" Target="/ppt/presProps.xml" Id="Rc3c316fbbf77471f" /><Relationship Type="http://schemas.openxmlformats.org/officeDocument/2006/relationships/viewProps" Target="/ppt/viewProps.xml" Id="R884c1fb3d22c4493" /><Relationship Type="http://schemas.openxmlformats.org/officeDocument/2006/relationships/tableStyles" Target="/ppt/tableStyles.xml" Id="R6c634e38df194ba5" /><Relationship Type="http://schemas.openxmlformats.org/officeDocument/2006/relationships/slide" Target="/ppt/slides/slide1.xml" Id="R1a5e8855c8e44d3c" /><Relationship Type="http://schemas.openxmlformats.org/officeDocument/2006/relationships/slide" Target="/ppt/slides/slide2.xml" Id="Rfd57d67308b54a93" /><Relationship Type="http://schemas.openxmlformats.org/officeDocument/2006/relationships/slide" Target="/ppt/slides/slide3.xml" Id="Rbf4e5e058a5c437f" /><Relationship Type="http://schemas.openxmlformats.org/officeDocument/2006/relationships/slide" Target="/ppt/slides/slide4.xml" Id="R32909ef9e4a045f1" /><Relationship Type="http://schemas.openxmlformats.org/officeDocument/2006/relationships/slide" Target="/ppt/slides/slide5.xml" Id="R8aecaf04d8fc4373" /><Relationship Type="http://schemas.openxmlformats.org/officeDocument/2006/relationships/slide" Target="/ppt/slides/slide6.xml" Id="R09669a8a68514798" /><Relationship Type="http://schemas.openxmlformats.org/officeDocument/2006/relationships/slide" Target="/ppt/slides/slide7.xml" Id="R6fdccb64c96c4d95" /><Relationship Type="http://schemas.openxmlformats.org/officeDocument/2006/relationships/slide" Target="/ppt/slides/slide8.xml" Id="R91e37336f17448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c52e04e85a4f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83802aeb154f30" /><Relationship Type="http://schemas.openxmlformats.org/officeDocument/2006/relationships/notesMaster" Target="/ppt/notesMasters/notesMaster1.xml" Id="Rb92ba956323648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cc41cea50e4c5c" /><Relationship Type="http://schemas.openxmlformats.org/officeDocument/2006/relationships/notesMaster" Target="/ppt/notesMasters/notesMaster1.xml" Id="R87c2ba83059545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4472beafcd4514" /><Relationship Type="http://schemas.openxmlformats.org/officeDocument/2006/relationships/notesMaster" Target="/ppt/notesMasters/notesMaster1.xml" Id="R895d5550f33e4e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1e8ee8c3c84d99" /><Relationship Type="http://schemas.openxmlformats.org/officeDocument/2006/relationships/notesMaster" Target="/ppt/notesMasters/notesMaster1.xml" Id="R9424f815a4a4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5c8b0d93894344" /><Relationship Type="http://schemas.openxmlformats.org/officeDocument/2006/relationships/notesMaster" Target="/ppt/notesMasters/notesMaster1.xml" Id="Rfcecc7e0d53645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98a24c450a4227" /><Relationship Type="http://schemas.openxmlformats.org/officeDocument/2006/relationships/notesMaster" Target="/ppt/notesMasters/notesMaster1.xml" Id="R03fa513c9c9b42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3bc62bfa2946ea" /><Relationship Type="http://schemas.openxmlformats.org/officeDocument/2006/relationships/notesMaster" Target="/ppt/notesMasters/notesMaster1.xml" Id="Rff8fab6f1d3c4c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5adc37cd774c7c" /><Relationship Type="http://schemas.openxmlformats.org/officeDocument/2006/relationships/notesMaster" Target="/ppt/notesMasters/notesMaster1.xml" Id="R777645390b894d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c9e6c782b44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23d1d0d75047a4" /><Relationship Type="http://schemas.openxmlformats.org/officeDocument/2006/relationships/slideLayout" Target="/ppt/slideLayouts/slideLayout1.xml" Id="R0db07cfc02fe4e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b07cfc02fe4e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9a312ce3b4e0a" /><Relationship Type="http://schemas.openxmlformats.org/officeDocument/2006/relationships/image" Target="/ppt/media/image.png" Id="R5c63ecc85de44a2c" /><Relationship Type="http://schemas.openxmlformats.org/officeDocument/2006/relationships/notesSlide" Target="/ppt/notesSlides/notesSlide1.xml" Id="Re86a2c190d9e46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49284acb446e5" /><Relationship Type="http://schemas.openxmlformats.org/officeDocument/2006/relationships/notesSlide" Target="/ppt/notesSlides/notesSlide2.xml" Id="R634113a88bbf4a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b0530e41e4830" /><Relationship Type="http://schemas.openxmlformats.org/officeDocument/2006/relationships/notesSlide" Target="/ppt/notesSlides/notesSlide3.xml" Id="Rbcd95d6ce7ec40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61a8e242b4ad2" /><Relationship Type="http://schemas.openxmlformats.org/officeDocument/2006/relationships/image" Target="/ppt/media/image2.png" Id="Rb59cc33fde6547b7" /><Relationship Type="http://schemas.openxmlformats.org/officeDocument/2006/relationships/image" Target="/ppt/media/image3.png" Id="R63c8e817b99d4a22" /><Relationship Type="http://schemas.openxmlformats.org/officeDocument/2006/relationships/notesSlide" Target="/ppt/notesSlides/notesSlide4.xml" Id="R9a314f2fca7547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f457c96e647e9" /><Relationship Type="http://schemas.openxmlformats.org/officeDocument/2006/relationships/image" Target="/ppt/media/image4.png" Id="Ra7ab1ec614cf4e05" /><Relationship Type="http://schemas.openxmlformats.org/officeDocument/2006/relationships/notesSlide" Target="/ppt/notesSlides/notesSlide5.xml" Id="R800cf263e27f45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3eb150b6645da" /><Relationship Type="http://schemas.openxmlformats.org/officeDocument/2006/relationships/image" Target="/ppt/media/image5.png" Id="Raab47bec8e6c4f64" /><Relationship Type="http://schemas.openxmlformats.org/officeDocument/2006/relationships/image" Target="/ppt/media/image6.png" Id="Rf12764caf06f46ac" /><Relationship Type="http://schemas.openxmlformats.org/officeDocument/2006/relationships/notesSlide" Target="/ppt/notesSlides/notesSlide6.xml" Id="R914f515d7c0c49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d8c8a26cc4db8" /><Relationship Type="http://schemas.openxmlformats.org/officeDocument/2006/relationships/image" Target="/ppt/media/image7.png" Id="Rdd216d6b61da4cd0" /><Relationship Type="http://schemas.openxmlformats.org/officeDocument/2006/relationships/image" Target="/ppt/media/image8.png" Id="Re3a085fc569e4b85" /><Relationship Type="http://schemas.openxmlformats.org/officeDocument/2006/relationships/image" Target="/ppt/media/image9.png" Id="Rc5f32a20dfc84a02" /><Relationship Type="http://schemas.openxmlformats.org/officeDocument/2006/relationships/image" Target="/ppt/media/image10.png" Id="Rd9d1550b2814422b" /><Relationship Type="http://schemas.openxmlformats.org/officeDocument/2006/relationships/notesSlide" Target="/ppt/notesSlides/notesSlide7.xml" Id="R8c7da66d7c9342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5074b67e54725" /><Relationship Type="http://schemas.openxmlformats.org/officeDocument/2006/relationships/notesSlide" Target="/ppt/notesSlides/notesSlide8.xml" Id="R7dd1fb15432542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24734DD-A413-47BF-BAB8-BC75215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730"/>
          </a:solidFill>
          <a:ln xmlns:a="http://schemas.openxmlformats.org/drawingml/2006/main" w="9525">
            <a:solidFill>
              <a:srgbClr val="A9473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FD08B5-295A-4EE9-B2F2-D9C173C6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71852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現行架構版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4F205DE-01D2-4F74-A6CB-3A63D991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48102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姿勢守衛隊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73DA0FF-573A-48F2-9FEE-095CED5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3902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D4355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D4355"/>
                </a:solidFill>
                <a:latin typeface="Menlo"/>
                <a:ea typeface="Menlo"/>
                <a:cs typeface="Menlo"/>
              </a:rPr>
              <a:t>Posture Guardian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73DA2DC-1B89-4B05-87C1-321B53BD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0652"/>
            <a:ext cx="552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現行雲端架構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概念驗證報告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BE05BE1-336E-482F-B0A8-55972911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9402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從即時姿勢覺察，到可降級的雲端建議</a:t>
            </a:r>
          </a:p>
        </p:txBody>
      </p:sp>
      <p:sp>
        <p:nvSpPr>
          <p:cNvPr id="9" name="圓角矩形 8">
            <a:extLst xmlns:a="http://schemas.openxmlformats.org/drawingml/2006/main">
              <a:ext uri="{FF2B5EF4-FFF2-40B4-BE49-F238E27FC236}">
                <a16:creationId xmlns:a16="http://schemas.microsoft.com/office/drawing/2014/main" id="{36146229-CDC7-4E49-ABC9-6064C0FE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2352"/>
            <a:ext cx="23812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3E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848E64-2663-4BD6-BF3A-CB91D1B8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2352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COOLIFY × POSTGRESQL × AI</a:t>
            </a:r>
          </a:p>
        </p:txBody>
      </p:sp>
      <p:sp>
        <p:nvSpPr>
          <p:cNvPr id="11" name="圓角矩形 10">
            <a:extLst xmlns:a="http://schemas.openxmlformats.org/drawingml/2006/main">
              <a:ext uri="{FF2B5EF4-FFF2-40B4-BE49-F238E27FC236}">
                <a16:creationId xmlns:a16="http://schemas.microsoft.com/office/drawing/2014/main" id="{DE2493C6-55C2-4443-8D1F-AD42EA1A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266825"/>
            <a:ext cx="52387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27" name="圖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3ecc85de44a2c"/>
          <a:stretch xmlns:a="http://schemas.openxmlformats.org/drawingml/2006/main"/>
        </p:blipFill>
        <p:spPr>
          <a:xfrm xmlns:a="http://schemas.openxmlformats.org/drawingml/2006/main">
            <a:off x="6572250" y="1373981"/>
            <a:ext cx="5143500" cy="3214688"/>
          </a:xfrm>
          <a:prstGeom xmlns:a="http://schemas.openxmlformats.org/drawingml/2006/main" prst="roundRect">
            <a:avLst>
              <a:gd name="adj" fmla="val 1714"/>
            </a:avLst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7F6CA00-761C-488B-846D-853A2B47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267" y="1266825"/>
            <a:ext cx="10900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D2D"/>
          </a:solidFill>
          <a:ln xmlns:a="http://schemas.openxmlformats.org/drawingml/2006/main" w="9525">
            <a:solidFill>
              <a:srgbClr val="C58D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3EE005C-22F1-4994-A6D4-AFB06B8F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53289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33 </a:t>
            </a:r>
            <a:r>
              <a:rPr sz="142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點骨架</a:t>
            </a:r>
            <a:r>
              <a:rPr sz="142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  →  </a:t>
            </a:r>
            <a:r>
              <a:rPr sz="142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衍生摘要</a:t>
            </a:r>
            <a:r>
              <a:rPr sz="142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  →  </a:t>
            </a:r>
            <a:r>
              <a:rPr sz="142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個人化下一步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000FED6-748F-44D1-830D-C5A0DF0B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53339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61149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8F96C17-6D12-4483-9CA0-BD4628F9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POC CHECKLIST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7D9A24-A93D-48DE-8423-0309EEAA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現行架構由三個可驗證角色組成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60BC16-44F2-4F70-B21F-200C3AC9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所有服務以 Docker Compose 定義；外部部署與真實 AI 呼叫會另行驗收。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76FA16B-E5A9-4AFA-B849-EB270920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183C44E1-E5FF-4DB2-A620-63BDF53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A947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3682794-8738-4901-90C8-0EA9F4E6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990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6C8"/>
          </a:solidFill>
          <a:ln xmlns:a="http://schemas.openxmlformats.org/drawingml/2006/main" w="9525">
            <a:solidFill>
              <a:srgbClr val="A9473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C95E2C9-950E-4015-99B5-A262CE26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990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F5B4931-8C2E-4E39-813E-72E72BC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Coolify／VPS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37E357-9364-4B9D-9C36-850E4A25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812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Expo Web＋Web／App 共用 FastAPI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4AB6DFC-3339-4199-92D7-596A42DE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驗證問題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E4057A-5D93-4E0C-9468-328DFD9A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同一套雛形能否讓</a:t>
            </a: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 Web </a:t>
            </a: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與</a:t>
            </a: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 App </a:t>
            </a: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共享姿態分析與工作階段</a:t>
            </a: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 API？</a:t>
            </a:r>
          </a:p>
        </p:txBody>
      </p:sp>
      <p:sp>
        <p:nvSpPr>
          <p:cNvPr id="12" name="圓角矩形 11">
            <a:extLst xmlns:a="http://schemas.openxmlformats.org/drawingml/2006/main">
              <a:ext uri="{FF2B5EF4-FFF2-40B4-BE49-F238E27FC236}">
                <a16:creationId xmlns:a16="http://schemas.microsoft.com/office/drawing/2014/main" id="{8059D1EE-5BCF-4962-97C3-5930FAC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FB2429C-9911-4A41-BDF9-C3F0C84C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990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009D256-DF5C-420F-AE69-2EA810B0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990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D4355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2D435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81B6E91-D3B7-4674-9EAF-8F0FAC89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PostgreSQL＋Alembic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C2B8B23-AEBF-4406-9B6C-E32C218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100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衍生指標、摘要、歷史與刪除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7D3BC1C-47E9-475C-A09C-9BFE9B5A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驗證問題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C080BD4-87C7-41F6-A8DF-57C24798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862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能否不保存原始影像，仍支援工作階段與長期趨勢？</a:t>
            </a:r>
          </a:p>
        </p:txBody>
      </p:sp>
      <p:sp>
        <p:nvSpPr>
          <p:cNvPr id="19" name="圓角矩形 18">
            <a:extLst xmlns:a="http://schemas.openxmlformats.org/drawingml/2006/main">
              <a:ext uri="{FF2B5EF4-FFF2-40B4-BE49-F238E27FC236}">
                <a16:creationId xmlns:a16="http://schemas.microsoft.com/office/drawing/2014/main" id="{19BCE1FA-21DD-480E-9B41-F90182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58D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45A0AC8-1F46-43D7-A011-C0BA882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990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6BD"/>
          </a:solidFill>
          <a:ln xmlns:a="http://schemas.openxmlformats.org/drawingml/2006/main" w="9525">
            <a:solidFill>
              <a:srgbClr val="C58D2D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0F1B8B1-81FA-4B0E-8BE8-DD0EBC35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990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DADA5F9-3D86-4B19-9AB8-D747A280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量界 adapter／fallback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07E945B-A709-4A5A-96BE-F0C03C44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387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rPr>
              <a:t>去識別摘要 → 個人化下一步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DBD4185-7135-4A36-9B00-12B09A4B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驗證問題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37922AF-44FE-4CDB-83EB-144DF2CC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149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量界不可用時，能否清楚顯示 fallback 並讓核心偵測繼續？</a:t>
            </a:r>
          </a:p>
        </p:txBody>
      </p:sp>
    </p:spTree>
    <p:extLst>
      <p:ext uri="{BB962C8B-B14F-4D97-AF65-F5344CB8AC3E}">
        <p14:creationId xmlns:p14="http://schemas.microsoft.com/office/powerpoint/2010/main" val="1444926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86E36BE-D72F-4692-9CC7-9921B5FE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SYSTEM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BA5BB5-67CA-416D-86FF-1A252DFA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Web 與 App 共用後端；Coolify 管理三個服務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C73B30C-EB52-49BD-9C71-CA3E87C1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相機與提醒在使用者端；姿態分析、資料與 AI 秘密集中在可信任後端。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024C5E5-A353-450B-868C-1A81198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5" name="向右箭號 4">
            <a:extLst xmlns:a="http://schemas.openxmlformats.org/drawingml/2006/main">
              <a:ext uri="{FF2B5EF4-FFF2-40B4-BE49-F238E27FC236}">
                <a16:creationId xmlns:a16="http://schemas.microsoft.com/office/drawing/2014/main" id="{108D2F60-BD92-44E8-988B-92435825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86025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6" name="向右箭號 5">
            <a:extLst xmlns:a="http://schemas.openxmlformats.org/drawingml/2006/main">
              <a:ext uri="{FF2B5EF4-FFF2-40B4-BE49-F238E27FC236}">
                <a16:creationId xmlns:a16="http://schemas.microsoft.com/office/drawing/2014/main" id="{081640F8-FC4D-4FDD-B11C-9E3B2A48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38625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FE4FDA5-C1AE-4A1B-9483-ED731000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523765"/>
            <a:ext cx="666750" cy="105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A949627-5C47-43BD-AA7A-24B339E3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52750"/>
            <a:ext cx="38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9" name="向右箭號 8">
            <a:extLst xmlns:a="http://schemas.openxmlformats.org/drawingml/2006/main">
              <a:ext uri="{FF2B5EF4-FFF2-40B4-BE49-F238E27FC236}">
                <a16:creationId xmlns:a16="http://schemas.microsoft.com/office/drawing/2014/main" id="{B8E3A365-9F13-4F2A-9A1E-E3ED604D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384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0" name="向右箭號 9">
            <a:extLst xmlns:a="http://schemas.openxmlformats.org/drawingml/2006/main">
              <a:ext uri="{FF2B5EF4-FFF2-40B4-BE49-F238E27FC236}">
                <a16:creationId xmlns:a16="http://schemas.microsoft.com/office/drawing/2014/main" id="{5E986542-179F-4812-A9B1-3A28B9F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5770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7EDC142-19C6-425B-A8D0-A4B0DFFC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使用者端</a:t>
            </a:r>
          </a:p>
        </p:txBody>
      </p:sp>
      <p:sp>
        <p:nvSpPr>
          <p:cNvPr id="12" name="圓角矩形 11">
            <a:extLst xmlns:a="http://schemas.openxmlformats.org/drawingml/2006/main">
              <a:ext uri="{FF2B5EF4-FFF2-40B4-BE49-F238E27FC236}">
                <a16:creationId xmlns:a16="http://schemas.microsoft.com/office/drawing/2014/main" id="{DE3C97C0-69E1-4548-BEBF-5A1AACBB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714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A9473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87379E1-DD96-4F5A-B1FA-7D6CA652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WEB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D2BD601-1BA5-45A9-A284-6661B44E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Expo Web</a:t>
            </a:r>
          </a:p>
        </p:txBody>
      </p:sp>
      <p:sp>
        <p:nvSpPr>
          <p:cNvPr id="15" name="圓角矩形 14">
            <a:extLst xmlns:a="http://schemas.openxmlformats.org/drawingml/2006/main">
              <a:ext uri="{FF2B5EF4-FFF2-40B4-BE49-F238E27FC236}">
                <a16:creationId xmlns:a16="http://schemas.microsoft.com/office/drawing/2014/main" id="{AFBBFEE2-EB98-41F5-BD82-9BD68960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714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BC2DD6-0A06-469C-B712-BED718E6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43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D4355"/>
                </a:solidFill>
                <a:latin typeface="Menlo"/>
                <a:ea typeface="Menlo"/>
                <a:cs typeface="Menlo"/>
              </a:rPr>
              <a:t>APP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8DFE839-C50B-4777-9362-DACA1B3A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iOS／Android</a:t>
            </a:r>
          </a:p>
        </p:txBody>
      </p:sp>
      <p:sp>
        <p:nvSpPr>
          <p:cNvPr id="18" name="圓角矩形 17">
            <a:extLst xmlns:a="http://schemas.openxmlformats.org/drawingml/2006/main">
              <a:ext uri="{FF2B5EF4-FFF2-40B4-BE49-F238E27FC236}">
                <a16:creationId xmlns:a16="http://schemas.microsoft.com/office/drawing/2014/main" id="{501911ED-B420-479B-B18F-107AFCAE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05000"/>
            <a:ext cx="4191000" cy="3638550"/>
          </a:xfrm>
          <a:prstGeom xmlns:a="http://schemas.openxmlformats.org/drawingml/2006/main" prst="roundRect">
            <a:avLst>
              <a:gd name="adj" fmla="val 1571"/>
            </a:avLst>
          </a:prstGeom>
          <a:solidFill xmlns:a="http://schemas.openxmlformats.org/drawingml/2006/main">
            <a:srgbClr val="EAE3D6"/>
          </a:solidFill>
          <a:ln xmlns:a="http://schemas.openxmlformats.org/drawingml/2006/main" w="9525">
            <a:solidFill>
              <a:srgbClr val="7733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C1B28EB-33BA-4353-BE5B-3A9A4E1C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7332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773324"/>
                </a:solidFill>
                <a:latin typeface="Menlo"/>
                <a:ea typeface="Menlo"/>
                <a:cs typeface="Menlo"/>
              </a:rPr>
              <a:t>COOLIFY／VPS</a:t>
            </a:r>
          </a:p>
        </p:txBody>
      </p:sp>
      <p:sp>
        <p:nvSpPr>
          <p:cNvPr id="20" name="圓角矩形 19">
            <a:extLst xmlns:a="http://schemas.openxmlformats.org/drawingml/2006/main">
              <a:ext uri="{FF2B5EF4-FFF2-40B4-BE49-F238E27FC236}">
                <a16:creationId xmlns:a16="http://schemas.microsoft.com/office/drawing/2014/main" id="{8DCE9C3D-4173-4CC2-BC28-EFEA29B9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33650"/>
            <a:ext cx="36576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A94730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B845C52-19CD-487F-BE3C-38A34357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11451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Web service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7270FFD-279D-46BE-8311-FB46CDBF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73401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Nginx 提供 Expo Web</a:t>
            </a:r>
          </a:p>
        </p:txBody>
      </p:sp>
      <p:sp>
        <p:nvSpPr>
          <p:cNvPr id="23" name="圓角矩形 22">
            <a:extLst xmlns:a="http://schemas.openxmlformats.org/drawingml/2006/main">
              <a:ext uri="{FF2B5EF4-FFF2-40B4-BE49-F238E27FC236}">
                <a16:creationId xmlns:a16="http://schemas.microsoft.com/office/drawing/2014/main" id="{27B00FA6-7AAE-405F-B892-1C7A6E9B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905250"/>
            <a:ext cx="3657600" cy="1295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20272A"/>
          </a:solidFill>
          <a:ln xmlns:a="http://schemas.openxmlformats.org/drawingml/2006/main" w="9525">
            <a:solidFill>
              <a:srgbClr val="20272A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0144DAE-5762-4F03-AE13-ACD723A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85167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9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9EF"/>
                </a:solidFill>
                <a:latin typeface="Arial Unicode MS"/>
                <a:ea typeface="Arial Unicode MS"/>
                <a:cs typeface="Arial Unicode MS"/>
              </a:rPr>
              <a:t>FastAPI API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27328B5-2F9E-4611-A79E-90679B4D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75692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MediaPipe</a:t>
            </a:r>
            <a:r>
              <a:rPr sz="1200" b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 33 </a:t>
            </a:r>
            <a:r>
              <a:rPr sz="1200" b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點／可解釋規則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工作階段／AI</a:t>
            </a:r>
            <a:r>
              <a:rPr sz="1200" b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 provider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756C8C2-4E2B-4805-83E7-32B531ED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資料與 AI 邊界</a:t>
            </a:r>
          </a:p>
        </p:txBody>
      </p:sp>
      <p:sp>
        <p:nvSpPr>
          <p:cNvPr id="27" name="圓角矩形 26">
            <a:extLst xmlns:a="http://schemas.openxmlformats.org/drawingml/2006/main">
              <a:ext uri="{FF2B5EF4-FFF2-40B4-BE49-F238E27FC236}">
                <a16:creationId xmlns:a16="http://schemas.microsoft.com/office/drawing/2014/main" id="{CABDC9E8-AFB0-4BB0-9FF0-8E162EDD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14325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CE3E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2332EE1-14D3-428C-B96E-E5EEECB9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PostgreSQL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＋ Alembic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7638DF4-132E-4C04-A9CB-B632C508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衍生指標／摘要／回饋</a:t>
            </a:r>
          </a:p>
        </p:txBody>
      </p:sp>
      <p:sp>
        <p:nvSpPr>
          <p:cNvPr id="30" name="圓角矩形 29">
            <a:extLst xmlns:a="http://schemas.openxmlformats.org/drawingml/2006/main">
              <a:ext uri="{FF2B5EF4-FFF2-40B4-BE49-F238E27FC236}">
                <a16:creationId xmlns:a16="http://schemas.microsoft.com/office/drawing/2014/main" id="{3E2183D0-1726-4F7C-A082-A61E9C7F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81450"/>
            <a:ext cx="314325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5E6BD"/>
          </a:solidFill>
          <a:ln xmlns:a="http://schemas.openxmlformats.org/drawingml/2006/main" w="9525">
            <a:solidFill>
              <a:srgbClr val="C58D2D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755F8DB-1997-4545-B52D-AB4695D6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量界 adapter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616808D-ADDE-45D5-9329-3CF54823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67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未設定時 → fallback</a:t>
            </a:r>
          </a:p>
        </p:txBody>
      </p:sp>
      <p:sp>
        <p:nvSpPr>
          <p:cNvPr id="33" name="圓角矩形 32">
            <a:extLst xmlns:a="http://schemas.openxmlformats.org/drawingml/2006/main">
              <a:ext uri="{FF2B5EF4-FFF2-40B4-BE49-F238E27FC236}">
                <a16:creationId xmlns:a16="http://schemas.microsoft.com/office/drawing/2014/main" id="{1BA168BD-14EB-4249-8C43-A3A39027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2382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D6C8"/>
          </a:solidFill>
          <a:ln xmlns:a="http://schemas.openxmlformats.org/drawingml/2006/main" w="9525">
            <a:solidFill>
              <a:srgbClr val="773324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CE6EC21-18EE-4B85-96C6-D0AE5E33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COOLIFY WEB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AE76390-ABAC-4D79-9905-A6E8BE22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05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靜態 Web 服務</a:t>
            </a:r>
          </a:p>
        </p:txBody>
      </p:sp>
      <p:sp>
        <p:nvSpPr>
          <p:cNvPr id="36" name="圓角矩形 35">
            <a:extLst xmlns:a="http://schemas.openxmlformats.org/drawingml/2006/main">
              <a:ext uri="{FF2B5EF4-FFF2-40B4-BE49-F238E27FC236}">
                <a16:creationId xmlns:a16="http://schemas.microsoft.com/office/drawing/2014/main" id="{6E425D98-B1A9-4810-80F9-E56C517F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05500"/>
            <a:ext cx="1333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3E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B003D99-E01E-49A0-9C87-6654E8C7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05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WEB + APP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47581EC-0C2D-438B-AF8D-D8BDF224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API／資料庫／AI 全部共用</a:t>
            </a:r>
          </a:p>
        </p:txBody>
      </p:sp>
    </p:spTree>
    <p:extLst>
      <p:ext uri="{BB962C8B-B14F-4D97-AF65-F5344CB8AC3E}">
        <p14:creationId xmlns:p14="http://schemas.microsoft.com/office/powerpoint/2010/main" val="984490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4AAB22D-DED8-4342-A1C8-5FBC69D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01 · COOLIFY／VPS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79BADE-3983-43D9-BD65-CD3EEA55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一套 Expo 介面，Web 與 App 共用同一支 API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8FA6EB3-317E-4FA0-A51E-D515FA8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同一份 Compose 管理 Web、API、PostgreSQL；Web 與 App 共用 FastAPI。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F1F8051-8D3A-4E84-BF65-85700D57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8D5B13A5-821A-43B0-A31F-75B3F8C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6286500" cy="3981450"/>
          </a:xfrm>
          <a:prstGeom xmlns:a="http://schemas.openxmlformats.org/drawingml/2006/main" prst="roundRect">
            <a:avLst>
              <a:gd name="adj" fmla="val 1435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圖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cc33fde6547b7"/>
          <a:srcRect xmlns:a="http://schemas.openxmlformats.org/drawingml/2006/main" l="6613" t="0" r="6648" b="270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573" y="2625195"/>
            <a:ext cx="5977304" cy="3141134"/>
          </a:xfrm>
          <a:prstGeom xmlns:a="http://schemas.openxmlformats.org/drawingml/2006/main" prst="roundRect">
            <a:avLst>
              <a:gd name="adj" fmla="val 1471"/>
            </a:avLst>
          </a:prstGeom>
        </p:spPr>
      </p:pic>
      <p:sp>
        <p:nvSpPr>
          <p:cNvPr id="7" name="圓角矩形 6">
            <a:extLst xmlns:a="http://schemas.openxmlformats.org/drawingml/2006/main">
              <a:ext uri="{FF2B5EF4-FFF2-40B4-BE49-F238E27FC236}">
                <a16:creationId xmlns:a16="http://schemas.microsoft.com/office/drawing/2014/main" id="{58555DA8-583B-484B-A4EB-33B646B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428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E6BD"/>
          </a:solidFill>
          <a:ln xmlns:a="http://schemas.openxmlformats.org/drawingml/2006/main" w="9525">
            <a:solidFill>
              <a:srgbClr val="77332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DC51327-806A-40D1-8975-C6804F68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持續偏移提醒</a:t>
            </a:r>
          </a:p>
        </p:txBody>
      </p:sp>
      <p:sp>
        <p:nvSpPr>
          <p:cNvPr id="9" name="圓角矩形 8">
            <a:extLst xmlns:a="http://schemas.openxmlformats.org/drawingml/2006/main">
              <a:ext uri="{FF2B5EF4-FFF2-40B4-BE49-F238E27FC236}">
                <a16:creationId xmlns:a16="http://schemas.microsoft.com/office/drawing/2014/main" id="{F52B3439-47C8-4EE4-A1A4-1E79711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400425"/>
            <a:ext cx="1695450" cy="2952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4" name="圖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8e817b99d4a22"/>
          <a:srcRect xmlns:a="http://schemas.openxmlformats.org/drawingml/2006/main" l="0" t="8742" r="0" b="87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850" y="3448050"/>
            <a:ext cx="1600200" cy="28575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C5B025B-535F-4C15-A987-A9F57A49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BF50790-686D-41B1-897E-5F816C00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4171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Compose 定義三個服務與健康檢查；外部 Coolify 部署另待驗證。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C45391-F60E-460B-B3BA-36B6B19A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驗證過程</a:t>
            </a:r>
          </a:p>
        </p:txBody>
      </p:sp>
      <p:sp>
        <p:nvSpPr>
          <p:cNvPr id="14" name="向右箭號 13">
            <a:extLst xmlns:a="http://schemas.openxmlformats.org/drawingml/2006/main">
              <a:ext uri="{FF2B5EF4-FFF2-40B4-BE49-F238E27FC236}">
                <a16:creationId xmlns:a16="http://schemas.microsoft.com/office/drawing/2014/main" id="{31652743-0E69-422F-A47F-8D06845E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5" name="圓角矩形 14">
            <a:extLst xmlns:a="http://schemas.openxmlformats.org/drawingml/2006/main">
              <a:ext uri="{FF2B5EF4-FFF2-40B4-BE49-F238E27FC236}">
                <a16:creationId xmlns:a16="http://schemas.microsoft.com/office/drawing/2014/main" id="{ACC6CDC4-3A73-4846-8894-27A0051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8191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879FE00-E569-449F-996F-6FB814AA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74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Web／App</a:t>
            </a:r>
          </a:p>
        </p:txBody>
      </p:sp>
      <p:sp>
        <p:nvSpPr>
          <p:cNvPr id="17" name="向右箭號 16">
            <a:extLst xmlns:a="http://schemas.openxmlformats.org/drawingml/2006/main">
              <a:ext uri="{FF2B5EF4-FFF2-40B4-BE49-F238E27FC236}">
                <a16:creationId xmlns:a16="http://schemas.microsoft.com/office/drawing/2014/main" id="{B72F8E02-BDB5-4179-A09E-4458FF73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3855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8" name="圓角矩形 17">
            <a:extLst xmlns:a="http://schemas.openxmlformats.org/drawingml/2006/main">
              <a:ext uri="{FF2B5EF4-FFF2-40B4-BE49-F238E27FC236}">
                <a16:creationId xmlns:a16="http://schemas.microsoft.com/office/drawing/2014/main" id="{E6B97368-173D-4057-8031-5FB0DC29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8191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D6C8"/>
          </a:solidFill>
          <a:ln xmlns:a="http://schemas.openxmlformats.org/drawingml/2006/main" w="9525">
            <a:solidFill>
              <a:srgbClr val="A9473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C05818C-4CE9-4DDA-8CA9-0954A3CA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86150"/>
            <a:ext cx="74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FastAPI</a:t>
            </a:r>
          </a:p>
        </p:txBody>
      </p:sp>
      <p:sp>
        <p:nvSpPr>
          <p:cNvPr id="20" name="向右箭號 19">
            <a:extLst xmlns:a="http://schemas.openxmlformats.org/drawingml/2006/main">
              <a:ext uri="{FF2B5EF4-FFF2-40B4-BE49-F238E27FC236}">
                <a16:creationId xmlns:a16="http://schemas.microsoft.com/office/drawing/2014/main" id="{EF71F860-B67A-4868-A080-9387B2B8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3855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1" name="圓角矩形 20">
            <a:extLst xmlns:a="http://schemas.openxmlformats.org/drawingml/2006/main">
              <a:ext uri="{FF2B5EF4-FFF2-40B4-BE49-F238E27FC236}">
                <a16:creationId xmlns:a16="http://schemas.microsoft.com/office/drawing/2014/main" id="{7AF660FB-60F3-4957-B865-90A1D098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8191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089734D-5D47-4FCE-8A1C-0775E69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74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33 點＋規則</a:t>
            </a:r>
          </a:p>
        </p:txBody>
      </p:sp>
      <p:sp>
        <p:nvSpPr>
          <p:cNvPr id="23" name="圓角矩形 22">
            <a:extLst xmlns:a="http://schemas.openxmlformats.org/drawingml/2006/main">
              <a:ext uri="{FF2B5EF4-FFF2-40B4-BE49-F238E27FC236}">
                <a16:creationId xmlns:a16="http://schemas.microsoft.com/office/drawing/2014/main" id="{2A39A6B7-8331-45F4-885D-B391DC63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486150"/>
            <a:ext cx="8191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49D4C39-3268-4833-A278-562FD55B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86150"/>
            <a:ext cx="74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即時回應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0CF94BC-CF5A-4F69-BD6C-36568D7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雛形驗證結果</a:t>
            </a:r>
          </a:p>
        </p:txBody>
      </p:sp>
      <p:sp>
        <p:nvSpPr>
          <p:cNvPr id="26" name="橢圓 25">
            <a:extLst xmlns:a="http://schemas.openxmlformats.org/drawingml/2006/main">
              <a:ext uri="{FF2B5EF4-FFF2-40B4-BE49-F238E27FC236}">
                <a16:creationId xmlns:a16="http://schemas.microsoft.com/office/drawing/2014/main" id="{28FEACBE-CA10-4795-8FAB-68B42F2D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239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435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A365BF-FC5E-4074-AF38-01A0AC62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正面／側面入口、10 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秒校準與即時角度畫面已可操作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2EEF6324-3BD2-4C01-AF11-DF310ECD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557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435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A117FBD-9B47-4960-92AC-8C9210DF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730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共用 API 有影像限制、視角驗證、工作階段、健康檢查與安全標頭。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8175B533-7379-42E9-A67C-38177D12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4569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435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484D1F3-2A15-4EE9-9112-DD2655E4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短暫動作不立即提醒；5 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秒平滑後仍需有效偏移累積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8 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秒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6998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1D51CA4-53FC-40E1-AEFA-58FA2C1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02 · POSTGRESQL ＋ ALEMBIC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1A5853-0654-45B1-BA6E-1B236A65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保存衍生指標，也能支援歷史與趨勢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48196EC-EF07-4856-ABDE-FCAD15AF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資料最小化不是刪除功能，而是從資料模型一開始就不建立原始影像欄位。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25D19A2-1259-4F63-B911-14B7F98C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CE77C3C-6746-4B64-8864-F3BCF1C5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9C634F6-289D-427E-BBA4-F70068D8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正式觀察可建立、寫入、彙整、查詢與刪除；只保存衍生資料與分類回饋。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85D4CF3-9FE4-4CA3-8098-F31B720D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驗證過程</a:t>
            </a:r>
          </a:p>
        </p:txBody>
      </p:sp>
      <p:sp>
        <p:nvSpPr>
          <p:cNvPr id="8" name="橢圓 7">
            <a:extLst xmlns:a="http://schemas.openxmlformats.org/drawingml/2006/main">
              <a:ext uri="{FF2B5EF4-FFF2-40B4-BE49-F238E27FC236}">
                <a16:creationId xmlns:a16="http://schemas.microsoft.com/office/drawing/2014/main" id="{F1A51161-750E-4575-B47F-9000569A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435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BC4D004-A0D3-409B-BDA6-669D2B50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9E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F9E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5A871E6-B282-4A5E-911E-4767E5A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24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建立工作階段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796067E-4AF0-40E1-8315-DEC3EE34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12" name="橢圓 11">
            <a:extLst xmlns:a="http://schemas.openxmlformats.org/drawingml/2006/main">
              <a:ext uri="{FF2B5EF4-FFF2-40B4-BE49-F238E27FC236}">
                <a16:creationId xmlns:a16="http://schemas.microsoft.com/office/drawing/2014/main" id="{524918FE-4C71-429C-8D03-2141F8D5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435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5D05804-F29F-4472-9F8F-845808B2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9E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F9EF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C14D447-1C36-475A-B894-3EC1B0B0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寫入衍生 sample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BDFD3F2-D28E-4503-969B-5F1E6AC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16" name="橢圓 15">
            <a:extLst xmlns:a="http://schemas.openxmlformats.org/drawingml/2006/main">
              <a:ext uri="{FF2B5EF4-FFF2-40B4-BE49-F238E27FC236}">
                <a16:creationId xmlns:a16="http://schemas.microsoft.com/office/drawing/2014/main" id="{C64BBED0-2EA3-4BC5-901B-418DAC5A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435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F763BB5-8BE0-4EDB-BE32-27F3D39C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9E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F9E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5D112FF-8FEF-47D9-8ABC-88CFA331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完成彙整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8F5475E-FAEC-4826-95D6-EA72A83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20" name="橢圓 19">
            <a:extLst xmlns:a="http://schemas.openxmlformats.org/drawingml/2006/main">
              <a:ext uri="{FF2B5EF4-FFF2-40B4-BE49-F238E27FC236}">
                <a16:creationId xmlns:a16="http://schemas.microsoft.com/office/drawing/2014/main" id="{128FC60A-E4AE-41C7-972E-F4634E40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435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3D1D5A9-1AD1-4422-A93A-6716E199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9E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F9EF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9B97F36-36BE-4734-9480-B1166DB1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歷史／刪除</a:t>
            </a:r>
          </a:p>
        </p:txBody>
      </p:sp>
      <p:sp>
        <p:nvSpPr>
          <p:cNvPr id="23" name="圓角矩形 22">
            <a:extLst xmlns:a="http://schemas.openxmlformats.org/drawingml/2006/main">
              <a:ext uri="{FF2B5EF4-FFF2-40B4-BE49-F238E27FC236}">
                <a16:creationId xmlns:a16="http://schemas.microsoft.com/office/drawing/2014/main" id="{B53055AE-34CD-4188-9AFB-9FB9861C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71675"/>
            <a:ext cx="6572250" cy="37719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4" name="圖片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b1ec614cf4e05"/>
          <a:stretch xmlns:a="http://schemas.openxmlformats.org/drawingml/2006/main"/>
        </p:blipFill>
        <p:spPr>
          <a:xfrm xmlns:a="http://schemas.openxmlformats.org/drawingml/2006/main">
            <a:off x="6063048" y="2019300"/>
            <a:ext cx="4256903" cy="3676650"/>
          </a:xfrm>
          <a:prstGeom xmlns:a="http://schemas.openxmlformats.org/drawingml/2006/main" prst="roundRect">
            <a:avLst>
              <a:gd name="adj" fmla="val 1554"/>
            </a:avLst>
          </a:prstGeom>
        </p:spPr>
      </p:pic>
      <p:sp>
        <p:nvSpPr>
          <p:cNvPr id="25" name="圓角矩形 24">
            <a:extLst xmlns:a="http://schemas.openxmlformats.org/drawingml/2006/main">
              <a:ext uri="{FF2B5EF4-FFF2-40B4-BE49-F238E27FC236}">
                <a16:creationId xmlns:a16="http://schemas.microsoft.com/office/drawing/2014/main" id="{2B5B535D-E0AB-4AF3-8B8E-15AE6785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90750"/>
            <a:ext cx="16954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3E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CE1E7BE-2E09-4EBD-B3A1-C38D55B8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907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正式資料｜衍生指標</a:t>
            </a:r>
          </a:p>
        </p:txBody>
      </p:sp>
      <p:sp>
        <p:nvSpPr>
          <p:cNvPr id="27" name="圓角矩形 26">
            <a:extLst xmlns:a="http://schemas.openxmlformats.org/drawingml/2006/main">
              <a:ext uri="{FF2B5EF4-FFF2-40B4-BE49-F238E27FC236}">
                <a16:creationId xmlns:a16="http://schemas.microsoft.com/office/drawing/2014/main" id="{E73518FE-6FE8-46EC-8975-97A4DFD6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05500"/>
            <a:ext cx="6477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CE3E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57420A7-DAA0-46EA-A0A3-350DCF50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05500"/>
            <a:ext cx="617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正式觀察可保存、查詢與刪除；展示模式只產生本地摘要，不寫入歷史。</a:t>
            </a:r>
          </a:p>
        </p:txBody>
      </p:sp>
    </p:spTree>
    <p:extLst>
      <p:ext uri="{BB962C8B-B14F-4D97-AF65-F5344CB8AC3E}">
        <p14:creationId xmlns:p14="http://schemas.microsoft.com/office/powerpoint/2010/main" val="1564985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EF62A47-8E77-437D-8CE7-E363CCC3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03 · 量界 ADAPTER ＋ FALLBACK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A6D819-B1AF-459A-A3C9-00160D15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生成式 AI 只負責長期建議，不負責判斷姿勢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1B5878-5333-4B7B-B59E-041160E8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量界 adapter 只讀去識別摘要；失敗時明確顯示規則式 fallback。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5FB8424-0584-42B1-BF05-6F36E952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6B3AFFF-A22E-485D-80F6-14A987A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8ED196-F560-46E3-AA90-CFB0C7A8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將合格資料的去識別摘要交給可配置 adapter，回傳短、可執行且可稽核的建議。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A675C61-7B50-4592-B0CA-D092730A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rPr>
              <a:t>驗證過程</a:t>
            </a:r>
          </a:p>
        </p:txBody>
      </p:sp>
      <p:sp>
        <p:nvSpPr>
          <p:cNvPr id="8" name="橢圓 7">
            <a:extLst xmlns:a="http://schemas.openxmlformats.org/drawingml/2006/main">
              <a:ext uri="{FF2B5EF4-FFF2-40B4-BE49-F238E27FC236}">
                <a16:creationId xmlns:a16="http://schemas.microsoft.com/office/drawing/2014/main" id="{986364E7-D831-4217-9D64-BCCAA266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58D2D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CE4F0C3-6EED-4E36-A8BA-0F94162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AE3ECCC-CD2F-4E60-98E1-F1180712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去識別摘要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81A7CEB-61B1-4D17-B49C-E9F90D1E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12" name="橢圓 11">
            <a:extLst xmlns:a="http://schemas.openxmlformats.org/drawingml/2006/main">
              <a:ext uri="{FF2B5EF4-FFF2-40B4-BE49-F238E27FC236}">
                <a16:creationId xmlns:a16="http://schemas.microsoft.com/office/drawing/2014/main" id="{704B7784-E751-4CF6-A456-A0227266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58D2D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97E30D-72E9-4536-BE6B-B506C658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E907E53-D091-4FF9-AE61-DC1CA17D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719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Prompt 契約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EA1D50C-63E3-4A66-BFA9-1B9E0E85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16" name="橢圓 15">
            <a:extLst xmlns:a="http://schemas.openxmlformats.org/drawingml/2006/main">
              <a:ext uri="{FF2B5EF4-FFF2-40B4-BE49-F238E27FC236}">
                <a16:creationId xmlns:a16="http://schemas.microsoft.com/office/drawing/2014/main" id="{E1A58C8A-BEC0-4911-A9FA-5CEA3C31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D2D"/>
          </a:solidFill>
          <a:ln xmlns:a="http://schemas.openxmlformats.org/drawingml/2006/main" w="9525">
            <a:solidFill>
              <a:srgbClr val="C58D2D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6E44837-EB0D-4920-9A22-67973CB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231E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chemeClr val="bg1"/>
                </a:solidFill>
                <a:latin typeface="Menlo"/>
                <a:ea typeface="Menlo"/>
                <a:cs typeface="Menlo"/>
              </a:rPr>
              <a:t>AI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1DD3EA-D491-4930-B30B-6296CC5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0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量界 adapter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FFC0111-E3F0-4158-873B-23C0240C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20" name="橢圓 19">
            <a:extLst xmlns:a="http://schemas.openxmlformats.org/drawingml/2006/main">
              <a:ext uri="{FF2B5EF4-FFF2-40B4-BE49-F238E27FC236}">
                <a16:creationId xmlns:a16="http://schemas.microsoft.com/office/drawing/2014/main" id="{A73EE2D2-0229-4C1D-8294-94C4BA0B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58D2D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9294B31-7884-4A9A-BA1A-3E35A790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AD8E334-6509-4532-BBA6-3E8E30F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48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格式／醫療檢查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EEB30B6-7210-450D-8314-8C9C4588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24" name="橢圓 23">
            <a:extLst xmlns:a="http://schemas.openxmlformats.org/drawingml/2006/main">
              <a:ext uri="{FF2B5EF4-FFF2-40B4-BE49-F238E27FC236}">
                <a16:creationId xmlns:a16="http://schemas.microsoft.com/office/drawing/2014/main" id="{4BA2A993-A853-4708-B9D4-4571991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58D2D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918E8E9-3165-4EF0-AF88-2614F406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1A98D44-DD38-4917-B1D2-566219AB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86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顯示或安全降級</a:t>
            </a:r>
          </a:p>
        </p:txBody>
      </p:sp>
      <p:sp>
        <p:nvSpPr>
          <p:cNvPr id="27" name="圓角矩形 26">
            <a:extLst xmlns:a="http://schemas.openxmlformats.org/drawingml/2006/main">
              <a:ext uri="{FF2B5EF4-FFF2-40B4-BE49-F238E27FC236}">
                <a16:creationId xmlns:a16="http://schemas.microsoft.com/office/drawing/2014/main" id="{7A14A46A-C819-4CF0-BEFA-43D900AC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71675"/>
            <a:ext cx="65722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3" name="圖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47bec8e6c4f64"/>
          <a:srcRect xmlns:a="http://schemas.openxmlformats.org/drawingml/2006/main" l="73" t="0" r="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019300"/>
            <a:ext cx="6477000" cy="238125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29" name="圓角矩形 28">
            <a:extLst xmlns:a="http://schemas.openxmlformats.org/drawingml/2006/main">
              <a:ext uri="{FF2B5EF4-FFF2-40B4-BE49-F238E27FC236}">
                <a16:creationId xmlns:a16="http://schemas.microsoft.com/office/drawing/2014/main" id="{AA19E76D-4324-4FF0-8177-C7BE21A5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38674"/>
            <a:ext cx="6572250" cy="1781175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5" name="圖片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764caf06f46ac"/>
          <a:srcRect xmlns:a="http://schemas.openxmlformats.org/drawingml/2006/main" l="0" t="10693" r="0" b="10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4686300"/>
            <a:ext cx="6477000" cy="166370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31" name="圓角矩形 30">
            <a:extLst xmlns:a="http://schemas.openxmlformats.org/drawingml/2006/main">
              <a:ext uri="{FF2B5EF4-FFF2-40B4-BE49-F238E27FC236}">
                <a16:creationId xmlns:a16="http://schemas.microsoft.com/office/drawing/2014/main" id="{8B841FA7-1F70-4FF7-AB9A-532F34E1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39052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E6BD"/>
          </a:solidFill>
          <a:ln xmlns:a="http://schemas.openxmlformats.org/drawingml/2006/main" w="9525">
            <a:solidFill>
              <a:srgbClr val="773324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89435E-40C6-4C65-82FE-F1B386CB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60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資料不足、未設定或服務異常時改用安全 fallback；核心偵測持續運作。</a:t>
            </a:r>
          </a:p>
        </p:txBody>
      </p:sp>
    </p:spTree>
    <p:extLst>
      <p:ext uri="{BB962C8B-B14F-4D97-AF65-F5344CB8AC3E}">
        <p14:creationId xmlns:p14="http://schemas.microsoft.com/office/powerpoint/2010/main" val="1916610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27DEED9-2423-4308-8D29-D5563D01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END-TO-END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EA587A-A45F-45AF-B92F-2A13E10E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一條流程已串起輸入、即時解釋、摘要與後續教練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59B9FB0-90EB-494E-AF2D-61EF0DFF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展示模式只驗證操作與本地摘要；不建立後端工作階段，也不代表使用者研究成果。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380629C-B6B6-431C-8F91-397EB3F5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5" name="向右箭號 4">
            <a:extLst xmlns:a="http://schemas.openxmlformats.org/drawingml/2006/main">
              <a:ext uri="{FF2B5EF4-FFF2-40B4-BE49-F238E27FC236}">
                <a16:creationId xmlns:a16="http://schemas.microsoft.com/office/drawing/2014/main" id="{F12AE387-1143-49BA-B741-0E2F72AB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6" name="向右箭號 5">
            <a:extLst xmlns:a="http://schemas.openxmlformats.org/drawingml/2006/main">
              <a:ext uri="{FF2B5EF4-FFF2-40B4-BE49-F238E27FC236}">
                <a16:creationId xmlns:a16="http://schemas.microsoft.com/office/drawing/2014/main" id="{90EBFC9C-D621-4DF2-9AFD-324F51FB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670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7" name="向右箭號 6">
            <a:extLst xmlns:a="http://schemas.openxmlformats.org/drawingml/2006/main">
              <a:ext uri="{FF2B5EF4-FFF2-40B4-BE49-F238E27FC236}">
                <a16:creationId xmlns:a16="http://schemas.microsoft.com/office/drawing/2014/main" id="{F9CAFE8A-054E-4CDF-8E9E-1716D2BA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8" name="圓角矩形 7">
            <a:extLst xmlns:a="http://schemas.openxmlformats.org/drawingml/2006/main">
              <a:ext uri="{FF2B5EF4-FFF2-40B4-BE49-F238E27FC236}">
                <a16:creationId xmlns:a16="http://schemas.microsoft.com/office/drawing/2014/main" id="{3718ABEC-5FFD-46FA-8F85-17E1B679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28825"/>
            <a:ext cx="2476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圖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16d6b61da4cd0"/>
          <a:srcRect xmlns:a="http://schemas.openxmlformats.org/drawingml/2006/main" l="3497" t="0" r="34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76450"/>
            <a:ext cx="2381250" cy="1600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10" name="圓角矩形 9">
            <a:extLst xmlns:a="http://schemas.openxmlformats.org/drawingml/2006/main">
              <a:ext uri="{FF2B5EF4-FFF2-40B4-BE49-F238E27FC236}">
                <a16:creationId xmlns:a16="http://schemas.microsoft.com/office/drawing/2014/main" id="{DCC5AF17-5217-4646-A448-6DAE21A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381250" cy="16002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42F604B-53DE-45C7-BF4D-A49A1F5A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077908B-9629-4F91-86DC-E7C87CE5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輸入與校準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EFDBC51-8F2D-4EC4-9194-4027BB73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第一步選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視角，建立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10 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秒個人基線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14" name="圓角矩形 13">
            <a:extLst xmlns:a="http://schemas.openxmlformats.org/drawingml/2006/main">
              <a:ext uri="{FF2B5EF4-FFF2-40B4-BE49-F238E27FC236}">
                <a16:creationId xmlns:a16="http://schemas.microsoft.com/office/drawing/2014/main" id="{EEE7AAA7-750A-4E23-B2A1-97C93C1E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28825"/>
            <a:ext cx="2476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圖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085fc569e4b85"/>
          <a:srcRect xmlns:a="http://schemas.openxmlformats.org/drawingml/2006/main" l="3497" t="0" r="34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076450"/>
            <a:ext cx="2381250" cy="1600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16" name="圓角矩形 15">
            <a:extLst xmlns:a="http://schemas.openxmlformats.org/drawingml/2006/main">
              <a:ext uri="{FF2B5EF4-FFF2-40B4-BE49-F238E27FC236}">
                <a16:creationId xmlns:a16="http://schemas.microsoft.com/office/drawing/2014/main" id="{8A469118-A44D-4C5A-AADD-4374E6A3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381250" cy="16002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8CB94F8-3A5B-480D-A807-E473D388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C5DBB2F-EA1A-44C1-9521-3BEC9972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節點與規則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A699D2B-BC0E-4832-AF55-6923B4A0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19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檢查必要節點，再計算視角專屬角度。</a:t>
            </a:r>
          </a:p>
        </p:txBody>
      </p:sp>
      <p:sp>
        <p:nvSpPr>
          <p:cNvPr id="20" name="圓角矩形 19">
            <a:extLst xmlns:a="http://schemas.openxmlformats.org/drawingml/2006/main">
              <a:ext uri="{FF2B5EF4-FFF2-40B4-BE49-F238E27FC236}">
                <a16:creationId xmlns:a16="http://schemas.microsoft.com/office/drawing/2014/main" id="{996C01F3-563C-47E3-85AB-3EF09AE2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28825"/>
            <a:ext cx="2476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圖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32a20dfc84a02"/>
          <a:srcRect xmlns:a="http://schemas.openxmlformats.org/drawingml/2006/main" l="3497" t="0" r="34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2076450"/>
            <a:ext cx="2381250" cy="1600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22" name="圓角矩形 21">
            <a:extLst xmlns:a="http://schemas.openxmlformats.org/drawingml/2006/main">
              <a:ext uri="{FF2B5EF4-FFF2-40B4-BE49-F238E27FC236}">
                <a16:creationId xmlns:a16="http://schemas.microsoft.com/office/drawing/2014/main" id="{4C6EE50B-D5AF-447B-9D3D-CB19AC77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2381250" cy="16002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36E4716-0E32-42A1-BA51-53553C84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8058CF1-BA25-4E23-8399-8B9DF51C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結果與摘要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52362AD-0511-4AD8-8F33-928CFF5C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9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彙整有效時間、事件與可執行建議。</a:t>
            </a:r>
          </a:p>
        </p:txBody>
      </p:sp>
      <p:sp>
        <p:nvSpPr>
          <p:cNvPr id="26" name="圓角矩形 25">
            <a:extLst xmlns:a="http://schemas.openxmlformats.org/drawingml/2006/main">
              <a:ext uri="{FF2B5EF4-FFF2-40B4-BE49-F238E27FC236}">
                <a16:creationId xmlns:a16="http://schemas.microsoft.com/office/drawing/2014/main" id="{2CD1435D-EB27-4087-8AC3-7658FBE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28825"/>
            <a:ext cx="2476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5" name="圖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1550b2814422b"/>
          <a:srcRect xmlns:a="http://schemas.openxmlformats.org/drawingml/2006/main" l="3497" t="0" r="34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2050" y="2076450"/>
            <a:ext cx="2381250" cy="1600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28" name="圓角矩形 27">
            <a:extLst xmlns:a="http://schemas.openxmlformats.org/drawingml/2006/main">
              <a:ext uri="{FF2B5EF4-FFF2-40B4-BE49-F238E27FC236}">
                <a16:creationId xmlns:a16="http://schemas.microsoft.com/office/drawing/2014/main" id="{2F96C808-84CB-444D-8A76-72F05964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05250"/>
            <a:ext cx="2381250" cy="16002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CFC4B4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322C883-9B40-4521-9571-EEE4F31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47608F3-C3A8-484D-B5EB-FD08EEA5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保存與後續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2737CC5-0A14-4DD2-8785-DA5BB10C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19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正式觀察才寫入歷史；合格資料才進入趨勢比較。</a:t>
            </a:r>
          </a:p>
        </p:txBody>
      </p:sp>
      <p:sp>
        <p:nvSpPr>
          <p:cNvPr id="32" name="圓角矩形 31">
            <a:extLst xmlns:a="http://schemas.openxmlformats.org/drawingml/2006/main">
              <a:ext uri="{FF2B5EF4-FFF2-40B4-BE49-F238E27FC236}">
                <a16:creationId xmlns:a16="http://schemas.microsoft.com/office/drawing/2014/main" id="{1CA75A44-FB7D-4B83-A5C3-5FEBE5B2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966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D6C8"/>
          </a:solidFill>
          <a:ln xmlns:a="http://schemas.openxmlformats.org/drawingml/2006/main" w="9525">
            <a:solidFill>
              <a:srgbClr val="77332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E39845F-E259-4BC1-BF77-0E8745D1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整合結果：展示資料不污染歷史；正式流程可追溯，AI 有輸入邊界與失敗備援。</a:t>
            </a:r>
          </a:p>
        </p:txBody>
      </p:sp>
    </p:spTree>
    <p:extLst>
      <p:ext uri="{BB962C8B-B14F-4D97-AF65-F5344CB8AC3E}">
        <p14:creationId xmlns:p14="http://schemas.microsoft.com/office/powerpoint/2010/main" val="2110122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FE6DFCA-096A-4618-A298-5D23B5FC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REFLECTION &amp; CONCLUSION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912877-AD21-489D-8CB2-7E2B6731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現行架構／結論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2612439-2C87-4B45-84DF-728E25E8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真正有價值的雲端分工，是讓每一層只做自己能被驗證的事情。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98B0365-0A0C-4BEC-81D5-9284B516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4"/>
          </a:solidFill>
          <a:ln xmlns:a="http://schemas.openxmlformats.org/drawingml/2006/main" w="0">
            <a:solidFill>
              <a:srgbClr val="CFC4B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E1C40D3-3444-4905-A498-9687FF20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雲端不是裝飾，而是把「即時判定」與「長期改善」安全接在一起。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953DAC7-7C5F-48BD-90F6-02E2745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730"/>
          </a:solidFill>
          <a:ln xmlns:a="http://schemas.openxmlformats.org/drawingml/2006/main" w="0">
            <a:solidFill>
              <a:srgbClr val="A9473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4B34A61-2233-4386-A335-00C357AD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21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最重要的設計選擇：生成式</a:t>
            </a:r>
            <a:r>
              <a:rPr sz="14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AI </a:t>
            </a:r>
            <a:r>
              <a:rPr sz="14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只讀摘要、只給建議；即使</a:t>
            </a:r>
            <a:r>
              <a:rPr sz="14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AI </a:t>
            </a:r>
            <a:r>
              <a:rPr sz="14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不可用，姿勢覺察仍能繼續</a:t>
            </a:r>
            <a:r>
              <a:rPr sz="14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8" name="圓角矩形 7">
            <a:extLst xmlns:a="http://schemas.openxmlformats.org/drawingml/2006/main">
              <a:ext uri="{FF2B5EF4-FFF2-40B4-BE49-F238E27FC236}">
                <a16:creationId xmlns:a16="http://schemas.microsoft.com/office/drawing/2014/main" id="{ECDA9602-8597-41DB-8D66-6296049A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857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1D6C8"/>
          </a:solidFill>
          <a:ln xmlns:a="http://schemas.openxmlformats.org/drawingml/2006/main" w="9525">
            <a:solidFill>
              <a:srgbClr val="7733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5238E23-D7AC-4790-A21A-7758D6E8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09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3324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77332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C28468F-5A88-49ED-9F1E-7AE443D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可解釋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36A21D-A51E-4B07-8586-30A101AF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62225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MediaPipe、個人基線與時間窗決定姿勢；每次提醒都有角度與門檻</a:t>
            </a: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12" name="圓角矩形 11">
            <a:extLst xmlns:a="http://schemas.openxmlformats.org/drawingml/2006/main">
              <a:ext uri="{FF2B5EF4-FFF2-40B4-BE49-F238E27FC236}">
                <a16:creationId xmlns:a16="http://schemas.microsoft.com/office/drawing/2014/main" id="{9FC091F9-6E03-4EF7-82EF-5A5A9503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857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CE3E5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EDEC569-B4E0-4FC1-B62C-054B7401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43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5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D435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C1FDFEC-87B1-47D0-81B0-4985E84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可共用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8EBFEFD-DF0D-4B0E-AACF-FCE94ED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95725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Web 與 App 共用同一套 FastAPI、資料契約與 AI 邊界，降低維護成本。</a:t>
            </a:r>
          </a:p>
        </p:txBody>
      </p:sp>
      <p:sp>
        <p:nvSpPr>
          <p:cNvPr id="16" name="圓角矩形 15">
            <a:extLst xmlns:a="http://schemas.openxmlformats.org/drawingml/2006/main">
              <a:ext uri="{FF2B5EF4-FFF2-40B4-BE49-F238E27FC236}">
                <a16:creationId xmlns:a16="http://schemas.microsoft.com/office/drawing/2014/main" id="{C00CB300-277A-4CE2-97A8-EFFABEC6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857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5E6BD"/>
          </a:solidFill>
          <a:ln xmlns:a="http://schemas.openxmlformats.org/drawingml/2006/main" w="9525">
            <a:solidFill>
              <a:srgbClr val="7733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69EEF7E-E0ED-43D4-B970-B05A2B23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76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3324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77332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BF4DBF1-E6F1-477A-BAB9-F5C4AAD0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可持續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168F4F7-6481-404F-A5ED-5AA56639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29225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只保存衍生指標；合格資料才進入趨勢，讓後續建議建立在可稽核證據上。</a:t>
            </a:r>
          </a:p>
        </p:txBody>
      </p:sp>
      <p:sp>
        <p:nvSpPr>
          <p:cNvPr id="20" name="圓角矩形 19">
            <a:extLst xmlns:a="http://schemas.openxmlformats.org/drawingml/2006/main">
              <a:ext uri="{FF2B5EF4-FFF2-40B4-BE49-F238E27FC236}">
                <a16:creationId xmlns:a16="http://schemas.microsoft.com/office/drawing/2014/main" id="{529D45E2-F589-4E22-BF54-F2753F5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204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0272A"/>
          </a:solidFill>
          <a:ln xmlns:a="http://schemas.openxmlformats.org/drawingml/2006/main" w="9525">
            <a:solidFill>
              <a:srgbClr val="F5E6BD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B06C0DA-DD80-4CC1-B99C-931C59D0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現行架構結論：Coolify 管理三個服務，PostgreSQL 保留衍生資料，量界 adapter 提供下一步。</a:t>
            </a:r>
          </a:p>
        </p:txBody>
      </p:sp>
    </p:spTree>
    <p:extLst>
      <p:ext uri="{BB962C8B-B14F-4D97-AF65-F5344CB8AC3E}">
        <p14:creationId xmlns:p14="http://schemas.microsoft.com/office/powerpoint/2010/main" val="853124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2026-07-19T04:46:23.8400000Z</dcterms:created>
  <dcterms:modified xsi:type="dcterms:W3CDTF">2026-07-19T04:46:23.8400000Z</dcterms:modified>
</coreProperties>
</file>